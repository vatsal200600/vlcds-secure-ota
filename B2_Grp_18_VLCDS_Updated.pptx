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1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731520"/>
            <a:ext cx="10728655" cy="5394960"/>
          </a:xfrm>
          <a:prstGeom prst="roundRect">
            <a:avLst/>
          </a:prstGeom>
          <a:solidFill>
            <a:srgbClr val="0E1A30"/>
          </a:solidFill>
          <a:ln w="1905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1097280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00D4FF"/>
                </a:solidFill>
                <a:latin typeface="Arial"/>
              </a:defRPr>
            </a:pPr>
            <a:r>
              <a:t>CRYPTOGRAPHY COURSE PROJECT  |  FINAL PROJECT PRESENTATION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50876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400" b="1">
                <a:solidFill>
                  <a:srgbClr val="FFFFFF"/>
                </a:solidFill>
                <a:latin typeface="Arial"/>
              </a:defRPr>
            </a:pPr>
            <a:r>
              <a:t>Version-Locked Chained Delta Signatures (VLCDS)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606040"/>
            <a:ext cx="9875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>
                <a:solidFill>
                  <a:srgbClr val="CBD5E1"/>
                </a:solidFill>
                <a:latin typeface="Calibri"/>
              </a:defRPr>
            </a:pPr>
            <a:r>
              <a:t>Extending Pre-Verify / Post-Verify Firmware Authentication to Secure Delta Updates on Resource-Constrained IoT Devices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3429000"/>
            <a:ext cx="9875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8899AA"/>
                </a:solidFill>
                <a:latin typeface="Calibri"/>
              </a:defRPr>
            </a:pPr>
            <a:r>
              <a:t>Base Paper: Formanek et al., 'Advanced System for Remote Updates on ESP32-Based Devices Using OTA Update Technology,' Computers (MDPI), Vol. 14, Issue 12, Art. 531, 2025.</a:t>
            </a:r>
          </a:p>
          <a:p>
            <a:pPr>
              <a:defRPr sz="1150">
                <a:solidFill>
                  <a:srgbClr val="8899AA"/>
                </a:solidFill>
                <a:latin typeface="Calibri"/>
              </a:defRPr>
            </a:pPr>
            <a:r>
              <a:t>Prior Technique Adapted: US10206114B2 / US10887770B2 (Samsung) — Pre-Verify / Post-Verify Dual Firmware Verification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97280" y="4343400"/>
            <a:ext cx="9966960" cy="1371600"/>
          </a:xfrm>
          <a:prstGeom prst="roundRect">
            <a:avLst/>
          </a:prstGeom>
          <a:solidFill>
            <a:srgbClr val="162A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371600" y="4434840"/>
            <a:ext cx="9418320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0D4FF"/>
                </a:solidFill>
                <a:latin typeface="Arial"/>
              </a:defRPr>
            </a:pPr>
            <a:r>
              <a:t>Project Team: B2_Grp_18</a:t>
            </a:r>
          </a:p>
          <a:p>
            <a:pPr>
              <a:spcBef>
                <a:spcPts val="400"/>
              </a:spcBef>
              <a:defRPr sz="1600" b="1">
                <a:solidFill>
                  <a:srgbClr val="FFFFFF"/>
                </a:solidFill>
                <a:latin typeface="Arial"/>
              </a:defRPr>
            </a:pPr>
            <a:r>
              <a:t>Vatsal Shrivastava   |   Nisarg Shilpesh Nagar   |   Johns Maria Joy</a:t>
            </a:r>
          </a:p>
          <a:p>
            <a:pPr>
              <a:spcBef>
                <a:spcPts val="400"/>
              </a:spcBef>
              <a:defRPr sz="1200">
                <a:solidFill>
                  <a:srgbClr val="CBD5E1"/>
                </a:solidFill>
                <a:latin typeface="Calibri"/>
              </a:defRPr>
            </a:pPr>
            <a:r>
              <a:t>Course Instructor &amp; Evaluator: Karthika V  •  Implementation: PC Simulator + ESP32-S2 Hardware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1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D4FF"/>
                </a:solidFill>
                <a:latin typeface="Arial"/>
              </a:defRPr>
            </a:pPr>
            <a:r>
              <a:t>1. INTRODUCTION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58368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Arial"/>
              </a:defRPr>
            </a:pPr>
            <a:r>
              <a:t>What the Base Paper Delivers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34440"/>
            <a:ext cx="10698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8899AA"/>
                </a:solidFill>
                <a:latin typeface="Calibri"/>
              </a:defRPr>
            </a:pPr>
            <a:r>
              <a:t>Formanek et al. (Computers MDPI, 2025) — State-of-the-Art Remote OTA for ESP32 Devices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00800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8899AA"/>
                </a:solidFill>
                <a:latin typeface="Calibri"/>
              </a:defRPr>
            </a:pPr>
            <a:r>
              <a:t>VLCDS: Version-Locked Chained Delta Signatures  |  B2_Grp_18  |  Cryptography Course Project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37360"/>
            <a:ext cx="5257800" cy="1737360"/>
          </a:xfrm>
          <a:prstGeom prst="roundRect">
            <a:avLst/>
          </a:prstGeom>
          <a:solidFill>
            <a:srgbClr val="132238"/>
          </a:solidFill>
          <a:ln w="1905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920240"/>
            <a:ext cx="4800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0D4FF"/>
                </a:solidFill>
                <a:latin typeface="Arial"/>
              </a:defRPr>
            </a:pPr>
            <a:r>
              <a:t>01  •  Centralized Release Routing</a:t>
            </a:r>
          </a:p>
          <a:p>
            <a:pPr>
              <a:spcBef>
                <a:spcPts val="800"/>
              </a:spcBef>
              <a:defRPr sz="1300">
                <a:solidFill>
                  <a:srgbClr val="CBD5E1"/>
                </a:solidFill>
                <a:latin typeface="Calibri"/>
              </a:defRPr>
            </a:pPr>
            <a:r>
              <a:t>Server-driven mechanism dynamically routes correct firmware versions to targeted device classes across heterogeneous deployments.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72200" y="1737360"/>
            <a:ext cx="5257800" cy="1737360"/>
          </a:xfrm>
          <a:prstGeom prst="roundRect">
            <a:avLst/>
          </a:prstGeom>
          <a:solidFill>
            <a:srgbClr val="132238"/>
          </a:solidFill>
          <a:ln w="19050">
            <a:solidFill>
              <a:srgbClr val="B38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920240"/>
            <a:ext cx="4800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B388FF"/>
                </a:solidFill>
                <a:latin typeface="Arial"/>
              </a:defRPr>
            </a:pPr>
            <a:r>
              <a:t>02  •  Multi-Protocol Delivery</a:t>
            </a:r>
          </a:p>
          <a:p>
            <a:pPr>
              <a:spcBef>
                <a:spcPts val="800"/>
              </a:spcBef>
              <a:defRPr sz="1300">
                <a:solidFill>
                  <a:srgbClr val="CBD5E1"/>
                </a:solidFill>
                <a:latin typeface="Calibri"/>
              </a:defRPr>
            </a:pPr>
            <a:r>
              <a:t>Supports diverse IoT transport layers including HTTP, MQTT, and CoAP to reach constrained and distributed wireless endpoints.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657600"/>
            <a:ext cx="5257800" cy="1737360"/>
          </a:xfrm>
          <a:prstGeom prst="roundRect">
            <a:avLst/>
          </a:prstGeom>
          <a:solidFill>
            <a:srgbClr val="132238"/>
          </a:solidFill>
          <a:ln w="19050">
            <a:solidFill>
              <a:srgbClr val="FFD7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3840480"/>
            <a:ext cx="4800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FD740"/>
                </a:solidFill>
                <a:latin typeface="Arial"/>
              </a:defRPr>
            </a:pPr>
            <a:r>
              <a:t>03  •  Version Checks &amp; Rollback</a:t>
            </a:r>
          </a:p>
          <a:p>
            <a:pPr>
              <a:spcBef>
                <a:spcPts val="800"/>
              </a:spcBef>
              <a:defRPr sz="1300">
                <a:solidFill>
                  <a:srgbClr val="CBD5E1"/>
                </a:solidFill>
                <a:latin typeface="Calibri"/>
              </a:defRPr>
            </a:pPr>
            <a:r>
              <a:t>Safety fallback mechanism automatically restores previous operational firmware if update fails boot or verification.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657600"/>
            <a:ext cx="5257800" cy="1737360"/>
          </a:xfrm>
          <a:prstGeom prst="roundRect">
            <a:avLst/>
          </a:prstGeom>
          <a:solidFill>
            <a:srgbClr val="132238"/>
          </a:solidFill>
          <a:ln w="19050">
            <a:solidFill>
              <a:srgbClr val="00E6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0" y="3840480"/>
            <a:ext cx="4800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0E676"/>
                </a:solidFill>
                <a:latin typeface="Arial"/>
              </a:defRPr>
            </a:pPr>
            <a:r>
              <a:t>04  •  Delta (Differential) Updates</a:t>
            </a:r>
          </a:p>
          <a:p>
            <a:pPr>
              <a:spcBef>
                <a:spcPts val="800"/>
              </a:spcBef>
              <a:defRPr sz="1300">
                <a:solidFill>
                  <a:srgbClr val="CBD5E1"/>
                </a:solidFill>
                <a:latin typeface="Calibri"/>
              </a:defRPr>
            </a:pPr>
            <a:r>
              <a:t>Transmits only binary diffs between installed and target firmware, drastically cutting wireless transmission bandwidth and flash wear.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5623560"/>
            <a:ext cx="10698480" cy="640080"/>
          </a:xfrm>
          <a:prstGeom prst="roundRect">
            <a:avLst/>
          </a:prstGeom>
          <a:solidFill>
            <a:srgbClr val="102540"/>
          </a:solidFill>
          <a:ln w="1905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5669280"/>
            <a:ext cx="103327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  <a:latin typeface="Arial"/>
              </a:defRPr>
            </a:pPr>
            <a:r>
              <a:t>Reported ESP32 Cryptographic Baseline in Base Paper:  ~4.8 ms / 3.5 mJ (Ed25519 verify)  •  ~25 ms / 2.4 mJ (SHA-256 over 1 MB)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1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D4FF"/>
                </a:solidFill>
                <a:latin typeface="Arial"/>
              </a:defRPr>
            </a:pPr>
            <a:r>
              <a:t>2. PROBLEM STATEMENT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58368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Arial"/>
              </a:defRPr>
            </a:pPr>
            <a:r>
              <a:t>Content Is Authenticated — Version &amp; History Are Not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34440"/>
            <a:ext cx="10698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8899AA"/>
                </a:solidFill>
                <a:latin typeface="Calibri"/>
              </a:defRPr>
            </a:pPr>
            <a:r>
              <a:t>The Critical Vulnerability in Modern IoT Firmware Update Pipelines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00800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8899AA"/>
                </a:solidFill>
                <a:latin typeface="Calibri"/>
              </a:defRPr>
            </a:pPr>
            <a:r>
              <a:t>VLCDS: Version-Locked Chained Delta Signatures  |  B2_Grp_18  |  Cryptography Course Project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37360"/>
            <a:ext cx="10698480" cy="1097280"/>
          </a:xfrm>
          <a:prstGeom prst="roundRect">
            <a:avLst/>
          </a:prstGeom>
          <a:solidFill>
            <a:srgbClr val="132238"/>
          </a:solidFill>
          <a:ln w="1905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2880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50">
                <a:solidFill>
                  <a:srgbClr val="FFFFFF"/>
                </a:solidFill>
                <a:latin typeface="Calibri"/>
              </a:defRPr>
            </a:pPr>
            <a:r>
              <a:t>Resource-constrained IoT devices (ESP32-class) increasingly rely on delta firmware updates over lossy, low-bandwidth wireless links (BLE, LoRa, cellular). Existing signature verification either executes only after the full image is assembled in flash, or verifies binary image integrity alone — NEVER cryptographically binding the patch to the installed version or historical update chain.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971800"/>
            <a:ext cx="5257800" cy="2194560"/>
          </a:xfrm>
          <a:prstGeom prst="roundRect">
            <a:avLst/>
          </a:prstGeom>
          <a:solidFill>
            <a:srgbClr val="132238"/>
          </a:solidFill>
          <a:ln w="19050">
            <a:solidFill>
              <a:srgbClr val="FF6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3063240"/>
            <a:ext cx="48006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F6B35"/>
                </a:solidFill>
                <a:latin typeface="Arial"/>
              </a:defRPr>
            </a:pPr>
            <a:r>
              <a:t>FAIL-01: Wasted Flash, Energy &amp; Bandwidth</a:t>
            </a:r>
          </a:p>
          <a:p>
            <a:pPr>
              <a:spcBef>
                <a:spcPts val="800"/>
              </a:spcBef>
              <a:defRPr sz="1250">
                <a:solidFill>
                  <a:srgbClr val="CBD5E1"/>
                </a:solidFill>
                <a:latin typeface="Calibri"/>
              </a:defRPr>
            </a:pPr>
            <a:r>
              <a:t>A mismatched-base or replayed patch is downloaded and partially processed before failure is discovered at post-verify.</a:t>
            </a:r>
            <a:br/>
            <a:r>
              <a:t>• Constrained nodes burn up to 90% of wireless battery budget downloading non-applicable deltas.</a:t>
            </a:r>
            <a:br/>
            <a:r>
              <a:t>• Unnecessary flash erase/write cycles permanently degrade MCU flash memory endurance.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2200" y="2971800"/>
            <a:ext cx="5257800" cy="2194560"/>
          </a:xfrm>
          <a:prstGeom prst="roundRect">
            <a:avLst/>
          </a:prstGeom>
          <a:solidFill>
            <a:srgbClr val="132238"/>
          </a:solidFill>
          <a:ln w="19050">
            <a:solidFill>
              <a:srgbClr val="FF52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3063240"/>
            <a:ext cx="48006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F5252"/>
                </a:solidFill>
                <a:latin typeface="Arial"/>
              </a:defRPr>
            </a:pPr>
            <a:r>
              <a:t>FAIL-02: Bypassable State &amp; Rollback Protection</a:t>
            </a:r>
          </a:p>
          <a:p>
            <a:pPr>
              <a:spcBef>
                <a:spcPts val="800"/>
              </a:spcBef>
              <a:defRPr sz="1250">
                <a:solidFill>
                  <a:srgbClr val="CBD5E1"/>
                </a:solidFill>
                <a:latin typeface="Calibri"/>
              </a:defRPr>
            </a:pPr>
            <a:r>
              <a:t>Traditional systems store version numbers in unauthenticated plaintext headers or external JSON metadata.</a:t>
            </a:r>
            <a:br/>
            <a:r>
              <a:t>• An attacker can alter version metadata without invalidating content signatures.</a:t>
            </a:r>
            <a:br/>
            <a:r>
              <a:t>• Replaying an old, signed firmware image (forced rollback attack) reinstalls known vulnerabilities.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5303520"/>
            <a:ext cx="10698480" cy="960120"/>
          </a:xfrm>
          <a:prstGeom prst="roundRect">
            <a:avLst/>
          </a:prstGeom>
          <a:solidFill>
            <a:srgbClr val="102A48"/>
          </a:solidFill>
          <a:ln w="19050">
            <a:solidFill>
              <a:srgbClr val="FFD7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5349240"/>
            <a:ext cx="10332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FD740"/>
                </a:solidFill>
                <a:latin typeface="Arial"/>
              </a:defRPr>
            </a:pPr>
            <a:r>
              <a:t>RESEARCH QUESTION: How can a delta firmware update be cryptographically bound — BEFORE any patch bytes are transferred or applied — to the exact base version, target version, and historical chain head, using minimal overhead suitable for low-power IoT microcontrollers?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1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D4FF"/>
                </a:solidFill>
                <a:latin typeface="Arial"/>
              </a:defRPr>
            </a:pPr>
            <a:r>
              <a:t>3. RESEARCH GAP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58368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Arial"/>
              </a:defRPr>
            </a:pPr>
            <a:r>
              <a:t>Two Independent Lines of Prior 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34440"/>
            <a:ext cx="10698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8899AA"/>
                </a:solidFill>
                <a:latin typeface="Calibri"/>
              </a:defRPr>
            </a:pPr>
            <a:r>
              <a:t>Analyzing Why Neither Approach Solves the Secure Delta Problem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00800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8899AA"/>
                </a:solidFill>
                <a:latin typeface="Calibri"/>
              </a:defRPr>
            </a:pPr>
            <a:r>
              <a:t>VLCDS: Version-Locked Chained Delta Signatures  |  B2_Grp_18  |  Cryptography Course Project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37360"/>
            <a:ext cx="5257800" cy="3200400"/>
          </a:xfrm>
          <a:prstGeom prst="roundRect">
            <a:avLst/>
          </a:prstGeom>
          <a:solidFill>
            <a:srgbClr val="132238"/>
          </a:solidFill>
          <a:ln w="1905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489204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0D4FF"/>
                </a:solidFill>
                <a:latin typeface="Arial"/>
              </a:defRPr>
            </a:pPr>
            <a:r>
              <a:t>Line 1: Base Paper's Delta Pipeline</a:t>
            </a:r>
          </a:p>
          <a:p>
            <a:pPr>
              <a:defRPr sz="1200">
                <a:solidFill>
                  <a:srgbClr val="8899AA"/>
                </a:solidFill>
                <a:latin typeface="Calibri"/>
              </a:defRPr>
            </a:pPr>
            <a:r>
              <a:t>Formanek et al., Computers (MDPI), 2025</a:t>
            </a:r>
          </a:p>
          <a:p>
            <a:pPr>
              <a:spcBef>
                <a:spcPts val="600"/>
              </a:spcBef>
              <a:defRPr sz="1200">
                <a:solidFill>
                  <a:srgbClr val="CBD5E1"/>
                </a:solidFill>
                <a:latin typeface="Calibri"/>
              </a:defRPr>
            </a:pPr>
            <a:r>
              <a:t>•  Optimizes bandwidth, power, and transmission time for delta updates on ESP32.</a:t>
            </a:r>
          </a:p>
          <a:p>
            <a:pPr>
              <a:spcBef>
                <a:spcPts val="600"/>
              </a:spcBef>
              <a:defRPr sz="1200">
                <a:solidFill>
                  <a:srgbClr val="CBD5E1"/>
                </a:solidFill>
                <a:latin typeface="Calibri"/>
              </a:defRPr>
            </a:pPr>
            <a:r>
              <a:t>•  Cryptographic authentication and tamper-resistance explicitly left as future work.</a:t>
            </a:r>
          </a:p>
          <a:p>
            <a:pPr>
              <a:spcBef>
                <a:spcPts val="600"/>
              </a:spcBef>
              <a:defRPr sz="1200">
                <a:solidFill>
                  <a:srgbClr val="CBD5E1"/>
                </a:solidFill>
                <a:latin typeface="Calibri"/>
              </a:defRPr>
            </a:pPr>
            <a:r>
              <a:t>•  Version checking and rollback handling rely solely on unauthenticated application logic.</a:t>
            </a:r>
          </a:p>
          <a:p>
            <a:pPr>
              <a:spcBef>
                <a:spcPts val="600"/>
              </a:spcBef>
              <a:defRPr sz="1200">
                <a:solidFill>
                  <a:srgbClr val="CBD5E1"/>
                </a:solidFill>
                <a:latin typeface="Calibri"/>
              </a:defRPr>
            </a:pPr>
            <a:r>
              <a:t>•  Vulnerable to malicious patch injection, version spoofing, and MITM tampering.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72200" y="1737360"/>
            <a:ext cx="5257800" cy="3200400"/>
          </a:xfrm>
          <a:prstGeom prst="roundRect">
            <a:avLst/>
          </a:prstGeom>
          <a:solidFill>
            <a:srgbClr val="132238"/>
          </a:solidFill>
          <a:ln w="19050">
            <a:solidFill>
              <a:srgbClr val="B38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55080" y="1874519"/>
            <a:ext cx="489204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B388FF"/>
                </a:solidFill>
                <a:latin typeface="Arial"/>
              </a:defRPr>
            </a:pPr>
            <a:r>
              <a:t>Line 2: Samsung Pre-/Post-Verify Patents</a:t>
            </a:r>
          </a:p>
          <a:p>
            <a:pPr>
              <a:defRPr sz="1200">
                <a:solidFill>
                  <a:srgbClr val="8899AA"/>
                </a:solidFill>
                <a:latin typeface="Calibri"/>
              </a:defRPr>
            </a:pPr>
            <a:r>
              <a:t>US10206114B2 / US10887770B2 (Samsung Electronics)</a:t>
            </a:r>
          </a:p>
          <a:p>
            <a:pPr>
              <a:spcBef>
                <a:spcPts val="600"/>
              </a:spcBef>
              <a:defRPr sz="1200">
                <a:solidFill>
                  <a:srgbClr val="CBD5E1"/>
                </a:solidFill>
                <a:latin typeface="Calibri"/>
              </a:defRPr>
            </a:pPr>
            <a:r>
              <a:t>•  Patented for smartphone / NFC secure elements communicating over an on-board bus (I2C/SPI).</a:t>
            </a:r>
          </a:p>
          <a:p>
            <a:pPr>
              <a:spcBef>
                <a:spcPts val="600"/>
              </a:spcBef>
              <a:defRPr sz="1200">
                <a:solidFill>
                  <a:srgbClr val="CBD5E1"/>
                </a:solidFill>
                <a:latin typeface="Calibri"/>
              </a:defRPr>
            </a:pPr>
            <a:r>
              <a:t>•  Only evaluates full monolithic firmware images — delta patches are not addressed.</a:t>
            </a:r>
          </a:p>
          <a:p>
            <a:pPr>
              <a:spcBef>
                <a:spcPts val="600"/>
              </a:spcBef>
              <a:defRPr sz="1200">
                <a:solidFill>
                  <a:srgbClr val="CBD5E1"/>
                </a:solidFill>
                <a:latin typeface="Calibri"/>
              </a:defRPr>
            </a:pPr>
            <a:r>
              <a:t>•  Version numbers and replay tracking are external to the cryptographically signed object.</a:t>
            </a:r>
          </a:p>
          <a:p>
            <a:pPr>
              <a:spcBef>
                <a:spcPts val="600"/>
              </a:spcBef>
              <a:defRPr sz="1200">
                <a:solidFill>
                  <a:srgbClr val="CBD5E1"/>
                </a:solidFill>
                <a:latin typeface="Calibri"/>
              </a:defRPr>
            </a:pPr>
            <a:r>
              <a:t>•  Assumes reliable local wiring, not lossy wireless links with malicious network adversaries.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5074920"/>
            <a:ext cx="10698480" cy="1188720"/>
          </a:xfrm>
          <a:prstGeom prst="roundRect">
            <a:avLst/>
          </a:prstGeom>
          <a:solidFill>
            <a:srgbClr val="1B2038"/>
          </a:solidFill>
          <a:ln w="19050">
            <a:solidFill>
              <a:srgbClr val="FF6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5166360"/>
            <a:ext cx="1033272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F6B35"/>
                </a:solidFill>
                <a:latin typeface="Arial"/>
              </a:defRPr>
            </a:pPr>
            <a:r>
              <a:t>CONSOLIDATED RESEARCH GAP:</a:t>
            </a:r>
          </a:p>
          <a:p>
            <a:pPr>
              <a:spcBef>
                <a:spcPts val="400"/>
              </a:spcBef>
              <a:defRPr sz="1300">
                <a:solidFill>
                  <a:srgbClr val="FFFFFF"/>
                </a:solidFill>
                <a:latin typeface="Calibri"/>
              </a:defRPr>
            </a:pPr>
            <a:r>
              <a:t>No existing protocol cryptographically binds delta patch content, device installed state, target version, and historical chain head into a single pre-verification object. Constrained wireless IoT endpoints have lacked a zero-waste gatekeeper that aborts invalid updates before receiving payload bytes.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1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D4FF"/>
                </a:solidFill>
                <a:latin typeface="Arial"/>
              </a:defRPr>
            </a:pPr>
            <a:r>
              <a:t>4. RESEARCH METHODOLOGY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58368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Arial"/>
              </a:defRPr>
            </a:pPr>
            <a:r>
              <a:t>Six-Phase Engineering &amp; Validation Methodology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34440"/>
            <a:ext cx="10698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8899AA"/>
                </a:solidFill>
                <a:latin typeface="Calibri"/>
              </a:defRPr>
            </a:pPr>
            <a:r>
              <a:t>Rigorous Engineering Workflow from Formal Modeling to Physical Hardware Validation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00800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8899AA"/>
                </a:solidFill>
                <a:latin typeface="Calibri"/>
              </a:defRPr>
            </a:pPr>
            <a:r>
              <a:t>VLCDS: Version-Locked Chained Delta Signatures  |  B2_Grp_18  |  Cryptography Course Project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4754880" cy="4480560"/>
          </a:xfrm>
          <a:prstGeom prst="roundRect">
            <a:avLst/>
          </a:prstGeom>
          <a:solidFill>
            <a:srgbClr val="0C162A"/>
          </a:solidFill>
          <a:ln w="1905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methodology_diagram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737360"/>
            <a:ext cx="4572000" cy="429768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5669280" y="1645920"/>
            <a:ext cx="5760720" cy="4480560"/>
          </a:xfrm>
          <a:prstGeom prst="roundRect">
            <a:avLst/>
          </a:prstGeom>
          <a:solidFill>
            <a:srgbClr val="132238"/>
          </a:solidFill>
          <a:ln w="1905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852160" y="1737360"/>
            <a:ext cx="53949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50" b="1">
                <a:solidFill>
                  <a:srgbClr val="00D4FF"/>
                </a:solidFill>
                <a:latin typeface="Arial"/>
              </a:defRPr>
            </a:pPr>
            <a:r>
              <a:t>1. Phase 1: Problem Analysis</a:t>
            </a:r>
          </a:p>
          <a:p>
            <a:pPr>
              <a:spcBef>
                <a:spcPts val="200"/>
              </a:spcBef>
              <a:defRPr sz="1150">
                <a:solidFill>
                  <a:srgbClr val="CBD5E1"/>
                </a:solidFill>
                <a:latin typeface="Calibri"/>
              </a:defRPr>
            </a:pPr>
            <a:r>
              <a:t>Identified IoT OTA vulnerabilities: bandwidth waste, flash burnout, rollback exploits.</a:t>
            </a:r>
          </a:p>
          <a:p>
            <a:pPr>
              <a:spcBef>
                <a:spcPts val="800"/>
              </a:spcBef>
              <a:defRPr sz="1350" b="1">
                <a:solidFill>
                  <a:srgbClr val="B388FF"/>
                </a:solidFill>
                <a:latin typeface="Arial"/>
              </a:defRPr>
            </a:pPr>
            <a:r>
              <a:t>2. Phase 2: Threat Modeling</a:t>
            </a:r>
          </a:p>
          <a:p>
            <a:pPr>
              <a:spcBef>
                <a:spcPts val="200"/>
              </a:spcBef>
              <a:defRPr sz="1150">
                <a:solidFill>
                  <a:srgbClr val="CBD5E1"/>
                </a:solidFill>
                <a:latin typeface="Calibri"/>
              </a:defRPr>
            </a:pPr>
            <a:r>
              <a:t>Adopted Dolev-Yao network attacker model; selected Ed25519 (RFC 8032) &amp; SHA-256.</a:t>
            </a:r>
          </a:p>
          <a:p>
            <a:pPr>
              <a:spcBef>
                <a:spcPts val="800"/>
              </a:spcBef>
              <a:defRPr sz="1350" b="1">
                <a:solidFill>
                  <a:srgbClr val="00E676"/>
                </a:solidFill>
                <a:latin typeface="Arial"/>
              </a:defRPr>
            </a:pPr>
            <a:r>
              <a:t>3. Phase 3: Protocol Architecture</a:t>
            </a:r>
          </a:p>
          <a:p>
            <a:pPr>
              <a:spcBef>
                <a:spcPts val="200"/>
              </a:spcBef>
              <a:defRPr sz="1150">
                <a:solidFill>
                  <a:srgbClr val="CBD5E1"/>
                </a:solidFill>
                <a:latin typeface="Calibri"/>
              </a:defRPr>
            </a:pPr>
            <a:r>
              <a:t>Designed 6-field manifest, 3-stage verification flow, and cryptographic hash-chain.</a:t>
            </a:r>
          </a:p>
          <a:p>
            <a:pPr>
              <a:spcBef>
                <a:spcPts val="800"/>
              </a:spcBef>
              <a:defRPr sz="1350" b="1">
                <a:solidFill>
                  <a:srgbClr val="FFD740"/>
                </a:solidFill>
                <a:latin typeface="Arial"/>
              </a:defRPr>
            </a:pPr>
            <a:r>
              <a:t>4. Phase 4: Dual Implementation</a:t>
            </a:r>
          </a:p>
          <a:p>
            <a:pPr>
              <a:spcBef>
                <a:spcPts val="200"/>
              </a:spcBef>
              <a:defRPr sz="1150">
                <a:solidFill>
                  <a:srgbClr val="CBD5E1"/>
                </a:solidFill>
                <a:latin typeface="Calibri"/>
              </a:defRPr>
            </a:pPr>
            <a:r>
              <a:t>Full PC reference simulation in Python 3.12 + physical ESP32-S2 MicroPython drivers.</a:t>
            </a:r>
          </a:p>
          <a:p>
            <a:pPr>
              <a:spcBef>
                <a:spcPts val="800"/>
              </a:spcBef>
              <a:defRPr sz="1350" b="1">
                <a:solidFill>
                  <a:srgbClr val="FF6B35"/>
                </a:solidFill>
                <a:latin typeface="Arial"/>
              </a:defRPr>
            </a:pPr>
            <a:r>
              <a:t>5. Phase 5: Empirical Benchmarking</a:t>
            </a:r>
          </a:p>
          <a:p>
            <a:pPr>
              <a:spcBef>
                <a:spcPts val="200"/>
              </a:spcBef>
              <a:defRPr sz="1150">
                <a:solidFill>
                  <a:srgbClr val="CBD5E1"/>
                </a:solidFill>
                <a:latin typeface="Calibri"/>
              </a:defRPr>
            </a:pPr>
            <a:r>
              <a:t>Comprehensive 13-test PyTest suite, 100-run crypto benchmarks, automated attack suite.</a:t>
            </a:r>
          </a:p>
          <a:p>
            <a:pPr>
              <a:spcBef>
                <a:spcPts val="800"/>
              </a:spcBef>
              <a:defRPr sz="1350" b="1">
                <a:solidFill>
                  <a:srgbClr val="FFFFFF"/>
                </a:solidFill>
                <a:latin typeface="Arial"/>
              </a:defRPr>
            </a:pPr>
            <a:r>
              <a:t>6. Phase 6: Live Validation</a:t>
            </a:r>
          </a:p>
          <a:p>
            <a:pPr>
              <a:spcBef>
                <a:spcPts val="200"/>
              </a:spcBef>
              <a:defRPr sz="1150">
                <a:solidFill>
                  <a:srgbClr val="CBD5E1"/>
                </a:solidFill>
                <a:latin typeface="Calibri"/>
              </a:defRPr>
            </a:pPr>
            <a:r>
              <a:t>Hardware deployment on ESP32-S2 DevKit M1 over WiFi HTTP with real-time web dashboard.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1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D4FF"/>
                </a:solidFill>
                <a:latin typeface="Arial"/>
              </a:defRPr>
            </a:pPr>
            <a:r>
              <a:t>5. PROPOSED CONTRIBUTION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58368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Arial"/>
              </a:defRPr>
            </a:pPr>
            <a:r>
              <a:t>The VLCDS Protocol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34440"/>
            <a:ext cx="10698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8899AA"/>
                </a:solidFill>
                <a:latin typeface="Calibri"/>
              </a:defRPr>
            </a:pPr>
            <a:r>
              <a:t>One 200-Byte Signed Manifest Binds Six Critical Facts Together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00800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8899AA"/>
                </a:solidFill>
                <a:latin typeface="Calibri"/>
              </a:defRPr>
            </a:pPr>
            <a:r>
              <a:t>VLCDS: Version-Locked Chained Delta Signatures  |  B2_Grp_18  |  Cryptography Course Project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91640"/>
            <a:ext cx="10698480" cy="1097280"/>
          </a:xfrm>
          <a:prstGeom prst="roundRect">
            <a:avLst/>
          </a:prstGeom>
          <a:solidFill>
            <a:srgbClr val="102240"/>
          </a:solidFill>
          <a:ln w="1905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78308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0D4FF"/>
                </a:solidFill>
                <a:latin typeface="Arial"/>
              </a:defRPr>
            </a:pPr>
            <a:r>
              <a:t>CRYPTOGRAPHIC MANIFEST EQUATION:</a:t>
            </a:r>
          </a:p>
          <a:p>
            <a:pPr>
              <a:spcBef>
                <a:spcPts val="400"/>
              </a:spcBef>
              <a:defRPr sz="1600" b="1">
                <a:solidFill>
                  <a:srgbClr val="FFFFFF"/>
                </a:solidFill>
                <a:latin typeface="Consolas"/>
              </a:defRPr>
            </a:pPr>
            <a:r>
              <a:t>M = Sign_privkey( H(base_fw) || H(delta) || H(target) || ver_base || ver_target || H(prev_manifest) 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926080"/>
            <a:ext cx="3474720" cy="3200400"/>
          </a:xfrm>
          <a:prstGeom prst="roundRect">
            <a:avLst/>
          </a:prstGeom>
          <a:solidFill>
            <a:srgbClr val="132238"/>
          </a:solidFill>
          <a:ln w="1905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3017520"/>
            <a:ext cx="310896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0D4FF"/>
                </a:solidFill>
                <a:latin typeface="Arial"/>
              </a:defRPr>
            </a:pPr>
            <a:r>
              <a:t>CONTENT BINDING</a:t>
            </a:r>
          </a:p>
          <a:p>
            <a:pPr>
              <a:spcBef>
                <a:spcPts val="200"/>
              </a:spcBef>
              <a:defRPr sz="1100">
                <a:solidFill>
                  <a:srgbClr val="8899AA"/>
                </a:solidFill>
                <a:latin typeface="Arial"/>
              </a:defRPr>
            </a:pPr>
            <a:r>
              <a:t>3 × 32-Byte SHA-256 Hashes</a:t>
            </a:r>
          </a:p>
          <a:p>
            <a:pPr>
              <a:spcBef>
                <a:spcPts val="1000"/>
              </a:spcBef>
              <a:defRPr sz="1200">
                <a:solidFill>
                  <a:srgbClr val="CBD5E1"/>
                </a:solidFill>
                <a:latin typeface="Calibri"/>
              </a:defRPr>
            </a:pPr>
            <a:r>
              <a:t>• H(base_fw): Cryptographically verifies current running image.</a:t>
            </a:r>
            <a:br/>
            <a:r>
              <a:t>• H(delta): Authenticates incoming patch before transfer.</a:t>
            </a:r>
            <a:br/>
            <a:r>
              <a:t>• H(target): Locks expected final state into signature.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61688" y="2926080"/>
            <a:ext cx="3474720" cy="3200400"/>
          </a:xfrm>
          <a:prstGeom prst="roundRect">
            <a:avLst/>
          </a:prstGeom>
          <a:solidFill>
            <a:srgbClr val="132238"/>
          </a:solidFill>
          <a:ln w="19050">
            <a:solidFill>
              <a:srgbClr val="FFD7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44568" y="3017520"/>
            <a:ext cx="310896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FD740"/>
                </a:solidFill>
                <a:latin typeface="Arial"/>
              </a:defRPr>
            </a:pPr>
            <a:r>
              <a:t>STATE BINDING</a:t>
            </a:r>
          </a:p>
          <a:p>
            <a:pPr>
              <a:spcBef>
                <a:spcPts val="200"/>
              </a:spcBef>
              <a:defRPr sz="1100">
                <a:solidFill>
                  <a:srgbClr val="8899AA"/>
                </a:solidFill>
                <a:latin typeface="Arial"/>
              </a:defRPr>
            </a:pPr>
            <a:r>
              <a:t>2 × 4-Byte Integer Versions</a:t>
            </a:r>
          </a:p>
          <a:p>
            <a:pPr>
              <a:spcBef>
                <a:spcPts val="1000"/>
              </a:spcBef>
              <a:defRPr sz="1200">
                <a:solidFill>
                  <a:srgbClr val="CBD5E1"/>
                </a:solidFill>
                <a:latin typeface="Calibri"/>
              </a:defRPr>
            </a:pPr>
            <a:r>
              <a:t>• ver_base: Expected active firmware version.</a:t>
            </a:r>
            <a:br/>
            <a:r>
              <a:t>• ver_target: Target version after patch.</a:t>
            </a:r>
            <a:br/>
            <a:r>
              <a:t>• Prevents version manipulation and cross-version patching.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991856" y="2926080"/>
            <a:ext cx="3474720" cy="3200400"/>
          </a:xfrm>
          <a:prstGeom prst="roundRect">
            <a:avLst/>
          </a:prstGeom>
          <a:solidFill>
            <a:srgbClr val="132238"/>
          </a:solidFill>
          <a:ln w="19050">
            <a:solidFill>
              <a:srgbClr val="00E6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174736" y="3017520"/>
            <a:ext cx="310896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0E676"/>
                </a:solidFill>
                <a:latin typeface="Arial"/>
              </a:defRPr>
            </a:pPr>
            <a:r>
              <a:t>HISTORY BINDING</a:t>
            </a:r>
          </a:p>
          <a:p>
            <a:pPr>
              <a:spcBef>
                <a:spcPts val="200"/>
              </a:spcBef>
              <a:defRPr sz="1100">
                <a:solidFill>
                  <a:srgbClr val="8899AA"/>
                </a:solidFill>
                <a:latin typeface="Arial"/>
              </a:defRPr>
            </a:pPr>
            <a:r>
              <a:t>1 × 32-Byte Hash-Chain Head</a:t>
            </a:r>
          </a:p>
          <a:p>
            <a:pPr>
              <a:spcBef>
                <a:spcPts val="1000"/>
              </a:spcBef>
              <a:defRPr sz="1200">
                <a:solidFill>
                  <a:srgbClr val="CBD5E1"/>
                </a:solidFill>
                <a:latin typeface="Calibri"/>
              </a:defRPr>
            </a:pPr>
            <a:r>
              <a:t>• H(prev_manifest): SHA-256 of last accepted manifest.</a:t>
            </a:r>
            <a:br/>
            <a:r>
              <a:t>• Forms an unalterable blockchain-style history.</a:t>
            </a:r>
            <a:br/>
            <a:r>
              <a:t>• Completely neutralizes replay / rollback attacks.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1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D4FF"/>
                </a:solidFill>
                <a:latin typeface="Arial"/>
              </a:defRPr>
            </a:pPr>
            <a:r>
              <a:t>6. SYSTEM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58368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Arial"/>
              </a:defRPr>
            </a:pPr>
            <a:r>
              <a:t>End-to-End VLCDS Deployment Topology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34440"/>
            <a:ext cx="10698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8899AA"/>
                </a:solidFill>
                <a:latin typeface="Calibri"/>
              </a:defRPr>
            </a:pPr>
            <a:r>
              <a:t>OTA Vendor Server (PC) Interacting with IoT Edge Device (ESP32-S2) Over Untrusted Wireless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00800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8899AA"/>
                </a:solidFill>
                <a:latin typeface="Calibri"/>
              </a:defRPr>
            </a:pPr>
            <a:r>
              <a:t>VLCDS: Version-Locked Chained Delta Signatures  |  B2_Grp_18  |  Cryptography Course Project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10728655" cy="4480560"/>
          </a:xfrm>
          <a:prstGeom prst="roundRect">
            <a:avLst/>
          </a:prstGeom>
          <a:solidFill>
            <a:srgbClr val="0C162A"/>
          </a:solidFill>
          <a:ln w="1905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system_architecture_179018562423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737360"/>
            <a:ext cx="10545775" cy="429768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1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D4FF"/>
                </a:solidFill>
                <a:latin typeface="Arial"/>
              </a:defRPr>
            </a:pPr>
            <a:r>
              <a:t>7. MANIFEST STRUCTURE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58368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Arial"/>
              </a:defRPr>
            </a:pPr>
            <a:r>
              <a:t>200-Byte Binary Wire Format Layout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34440"/>
            <a:ext cx="10698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8899AA"/>
                </a:solidFill>
                <a:latin typeface="Calibri"/>
              </a:defRPr>
            </a:pPr>
            <a:r>
              <a:t>Extremely Compact Wire Representation Tailored for Constrained Wireless MTUs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00800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8899AA"/>
                </a:solidFill>
                <a:latin typeface="Calibri"/>
              </a:defRPr>
            </a:pPr>
            <a:r>
              <a:t>VLCDS: Version-Locked Chained Delta Signatures  |  B2_Grp_18  |  Cryptography Course Project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5486400" cy="4480560"/>
          </a:xfrm>
          <a:prstGeom prst="roundRect">
            <a:avLst/>
          </a:prstGeom>
          <a:solidFill>
            <a:srgbClr val="0C162A"/>
          </a:solidFill>
          <a:ln w="1905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manifest_structure_179018567806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737360"/>
            <a:ext cx="5303520" cy="429768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6400800" y="1645920"/>
            <a:ext cx="5029200" cy="4480560"/>
          </a:xfrm>
          <a:prstGeom prst="roundRect">
            <a:avLst/>
          </a:prstGeom>
          <a:solidFill>
            <a:srgbClr val="132238"/>
          </a:solidFill>
          <a:ln w="1905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0" y="1737360"/>
            <a:ext cx="466344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0D4FF"/>
                </a:solidFill>
                <a:latin typeface="Arial"/>
              </a:defRPr>
            </a:pPr>
            <a:r>
              <a:t>FIELD SPECIFICATIONS (200 BYTES)</a:t>
            </a:r>
          </a:p>
          <a:p>
            <a:pPr>
              <a:spcBef>
                <a:spcPts val="300"/>
              </a:spcBef>
              <a:defRPr sz="1100">
                <a:solidFill>
                  <a:srgbClr val="CBD5E1"/>
                </a:solidFill>
                <a:latin typeface="Calibri"/>
              </a:defRPr>
            </a:pPr>
            <a:r>
              <a:t>• H(base_fw) (32 Bytes): SHA-256 hash of active firmware</a:t>
            </a:r>
          </a:p>
          <a:p>
            <a:pPr>
              <a:spcBef>
                <a:spcPts val="300"/>
              </a:spcBef>
              <a:defRPr sz="1100">
                <a:solidFill>
                  <a:srgbClr val="CBD5E1"/>
                </a:solidFill>
                <a:latin typeface="Calibri"/>
              </a:defRPr>
            </a:pPr>
            <a:r>
              <a:t>• H(delta) (32 Bytes): SHA-256 hash of delta patch</a:t>
            </a:r>
          </a:p>
          <a:p>
            <a:pPr>
              <a:spcBef>
                <a:spcPts val="300"/>
              </a:spcBef>
              <a:defRPr sz="1100">
                <a:solidFill>
                  <a:srgbClr val="CBD5E1"/>
                </a:solidFill>
                <a:latin typeface="Calibri"/>
              </a:defRPr>
            </a:pPr>
            <a:r>
              <a:t>• H(target) (32 Bytes): SHA-256 hash of reconstructed image</a:t>
            </a:r>
          </a:p>
          <a:p>
            <a:pPr>
              <a:spcBef>
                <a:spcPts val="300"/>
              </a:spcBef>
              <a:defRPr sz="1100">
                <a:solidFill>
                  <a:srgbClr val="CBD5E1"/>
                </a:solidFill>
                <a:latin typeface="Calibri"/>
              </a:defRPr>
            </a:pPr>
            <a:r>
              <a:t>• ver_base (4 Bytes): uint32 expected base version</a:t>
            </a:r>
          </a:p>
          <a:p>
            <a:pPr>
              <a:spcBef>
                <a:spcPts val="300"/>
              </a:spcBef>
              <a:defRPr sz="1100">
                <a:solidFill>
                  <a:srgbClr val="CBD5E1"/>
                </a:solidFill>
                <a:latin typeface="Calibri"/>
              </a:defRPr>
            </a:pPr>
            <a:r>
              <a:t>• ver_target (4 Bytes): uint32 new target version</a:t>
            </a:r>
          </a:p>
          <a:p>
            <a:pPr>
              <a:spcBef>
                <a:spcPts val="300"/>
              </a:spcBef>
              <a:defRPr sz="1100">
                <a:solidFill>
                  <a:srgbClr val="CBD5E1"/>
                </a:solidFill>
                <a:latin typeface="Calibri"/>
              </a:defRPr>
            </a:pPr>
            <a:r>
              <a:t>• H(prev_manifest) (32 Bytes): SHA-256 hash of previous manifest</a:t>
            </a:r>
          </a:p>
          <a:p>
            <a:pPr>
              <a:spcBef>
                <a:spcPts val="300"/>
              </a:spcBef>
              <a:defRPr sz="1100">
                <a:solidFill>
                  <a:srgbClr val="CBD5E1"/>
                </a:solidFill>
                <a:latin typeface="Calibri"/>
              </a:defRPr>
            </a:pPr>
            <a:r>
              <a:t>• signature (64 Bytes): Ed25519 signature (RFC 8032)</a:t>
            </a:r>
          </a:p>
          <a:p>
            <a:pPr>
              <a:spcBef>
                <a:spcPts val="1200"/>
              </a:spcBef>
              <a:defRPr sz="1200" b="1">
                <a:solidFill>
                  <a:srgbClr val="00E676"/>
                </a:solidFill>
                <a:latin typeface="Arial"/>
              </a:defRPr>
            </a:pPr>
            <a:r>
              <a:t>WIRELESS MTU COMPATIBILITY:</a:t>
            </a:r>
          </a:p>
          <a:p>
            <a:pPr>
              <a:spcBef>
                <a:spcPts val="200"/>
              </a:spcBef>
              <a:defRPr sz="1050">
                <a:solidFill>
                  <a:srgbClr val="FFFFFF"/>
                </a:solidFill>
                <a:latin typeface="Calibri"/>
              </a:defRPr>
            </a:pPr>
            <a:r>
              <a:t>✓ LoRaWAN: Max payload 222 B -&gt; Entire manifest fits in 1 frame!</a:t>
            </a:r>
          </a:p>
          <a:p>
            <a:pPr>
              <a:spcBef>
                <a:spcPts val="200"/>
              </a:spcBef>
              <a:defRPr sz="1050">
                <a:solidFill>
                  <a:srgbClr val="FFFFFF"/>
                </a:solidFill>
                <a:latin typeface="Calibri"/>
              </a:defRPr>
            </a:pPr>
            <a:r>
              <a:t>✓ BLE (Bluetooth 5.0+): MTU up to 244 B -&gt; Single packet transmission.</a:t>
            </a:r>
          </a:p>
          <a:p>
            <a:pPr>
              <a:spcBef>
                <a:spcPts val="200"/>
              </a:spcBef>
              <a:defRPr sz="1050">
                <a:solidFill>
                  <a:srgbClr val="FFFFFF"/>
                </a:solidFill>
                <a:latin typeface="Calibri"/>
              </a:defRPr>
            </a:pPr>
            <a:r>
              <a:t>✓ Zigbee (802.15.4): Fits with lightweight 2-frame fragmentation.</a:t>
            </a:r>
          </a:p>
          <a:p>
            <a:pPr>
              <a:spcBef>
                <a:spcPts val="200"/>
              </a:spcBef>
              <a:defRPr sz="1050">
                <a:solidFill>
                  <a:srgbClr val="FFFFFF"/>
                </a:solidFill>
                <a:latin typeface="Calibri"/>
              </a:defRPr>
            </a:pPr>
            <a:r>
              <a:t>✓ CoAP / UDP: Transmitted inside a single non-fragmented datagram.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1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D4FF"/>
                </a:solidFill>
                <a:latin typeface="Arial"/>
              </a:defRPr>
            </a:pPr>
            <a:r>
              <a:t>8. VERIFICATION PROTOCOL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58368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Arial"/>
              </a:defRPr>
            </a:pPr>
            <a:r>
              <a:t>The 3-Stage Zero-Waste Verification Pipeline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34440"/>
            <a:ext cx="10698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8899AA"/>
                </a:solidFill>
                <a:latin typeface="Calibri"/>
              </a:defRPr>
            </a:pPr>
            <a:r>
              <a:t>How VLCDS Eliminates Wasted Bandwidth and Avoids Redundant Signatures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00800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8899AA"/>
                </a:solidFill>
                <a:latin typeface="Calibri"/>
              </a:defRPr>
            </a:pPr>
            <a:r>
              <a:t>VLCDS: Version-Locked Chained Delta Signatures  |  B2_Grp_18  |  Cryptography Course Project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4937760" cy="4480560"/>
          </a:xfrm>
          <a:prstGeom prst="roundRect">
            <a:avLst/>
          </a:prstGeom>
          <a:solidFill>
            <a:srgbClr val="0C162A"/>
          </a:solidFill>
          <a:ln w="1905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verification_flowchart_179018564040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737360"/>
            <a:ext cx="4754880" cy="429768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5852160" y="1645920"/>
            <a:ext cx="5577840" cy="4480560"/>
          </a:xfrm>
          <a:prstGeom prst="roundRect">
            <a:avLst/>
          </a:prstGeom>
          <a:solidFill>
            <a:srgbClr val="132238"/>
          </a:solidFill>
          <a:ln w="1905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035040" y="1737360"/>
            <a:ext cx="521208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F6B35"/>
                </a:solidFill>
                <a:latin typeface="Arial"/>
              </a:defRPr>
            </a:pPr>
            <a:r>
              <a:t>STAGE 1: PRE-VERIFICATION (Gatekeeper)</a:t>
            </a:r>
          </a:p>
          <a:p>
            <a:pPr>
              <a:spcBef>
                <a:spcPts val="200"/>
              </a:spcBef>
              <a:defRPr sz="1100">
                <a:solidFill>
                  <a:srgbClr val="CBD5E1"/>
                </a:solidFill>
                <a:latin typeface="Calibri"/>
              </a:defRPr>
            </a:pPr>
            <a:r>
              <a:t>Executed BEFORE requesting or downloading any patch bytes:</a:t>
            </a:r>
            <a:br/>
            <a:r>
              <a:t>1. Verify Ed25519 signature over 6-field manifest.</a:t>
            </a:r>
            <a:br/>
            <a:r>
              <a:t>2. Confirm H(base_fw) matches device's current SHA-256.</a:t>
            </a:r>
            <a:br/>
            <a:r>
              <a:t>3. Confirm ver_base matches currently running version.</a:t>
            </a:r>
            <a:br/>
            <a:r>
              <a:t>4. Confirm H(prev_manifest) matches device's chain head.</a:t>
            </a:r>
            <a:br/>
            <a:r>
              <a:t>--&gt; IF ANY CHECK FAILS: Abort instantly. ZERO patch bytes wasted!</a:t>
            </a:r>
          </a:p>
          <a:p>
            <a:pPr>
              <a:spcBef>
                <a:spcPts val="800"/>
              </a:spcBef>
              <a:defRPr sz="1300" b="1">
                <a:solidFill>
                  <a:srgbClr val="00D4FF"/>
                </a:solidFill>
                <a:latin typeface="Arial"/>
              </a:defRPr>
            </a:pPr>
            <a:r>
              <a:t>STAGE 2: TRANSFER &amp; APPLY</a:t>
            </a:r>
          </a:p>
          <a:p>
            <a:pPr>
              <a:spcBef>
                <a:spcPts val="200"/>
              </a:spcBef>
              <a:defRPr sz="1100">
                <a:solidFill>
                  <a:srgbClr val="CBD5E1"/>
                </a:solidFill>
                <a:latin typeface="Calibri"/>
              </a:defRPr>
            </a:pPr>
            <a:r>
              <a:t>Triggered only after Stage 1 passes:</a:t>
            </a:r>
            <a:br/>
            <a:r>
              <a:t>1. Device requests delta patch payload from server.</a:t>
            </a:r>
            <a:br/>
            <a:r>
              <a:t>2. Verifies SHA-256 of received delta equals authenticated H(delta).</a:t>
            </a:r>
            <a:br/>
            <a:r>
              <a:t>3. Applies differential patch to shadow partition in flash.</a:t>
            </a:r>
          </a:p>
          <a:p>
            <a:pPr>
              <a:spcBef>
                <a:spcPts val="800"/>
              </a:spcBef>
              <a:defRPr sz="1300" b="1">
                <a:solidFill>
                  <a:srgbClr val="00E676"/>
                </a:solidFill>
                <a:latin typeface="Arial"/>
              </a:defRPr>
            </a:pPr>
            <a:r>
              <a:t>STAGE 3: POST-VERIFICATION (Zero Signature Overhead)</a:t>
            </a:r>
          </a:p>
          <a:p>
            <a:pPr>
              <a:spcBef>
                <a:spcPts val="200"/>
              </a:spcBef>
              <a:defRPr sz="1100">
                <a:solidFill>
                  <a:srgbClr val="CBD5E1"/>
                </a:solidFill>
                <a:latin typeface="Calibri"/>
              </a:defRPr>
            </a:pPr>
            <a:r>
              <a:t>Final safety confirmation:</a:t>
            </a:r>
            <a:br/>
            <a:r>
              <a:t>1. Compute SHA-256 of reconstructed firmware on shadow partition.</a:t>
            </a:r>
            <a:br/>
            <a:r>
              <a:t>2. Compare against H(target) committed inside Stage-1 signature.</a:t>
            </a:r>
            <a:br/>
            <a:r>
              <a:t>3. Flip active boot partition -&gt; Reboot to new version!</a:t>
            </a:r>
            <a:br/>
            <a:r>
              <a:t>--&gt; NO EXPENSIVE 2ND SIGNATURE CHECK NEEDED!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1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D4FF"/>
                </a:solidFill>
                <a:latin typeface="Arial"/>
              </a:defRPr>
            </a:pPr>
            <a:r>
              <a:t>9. ANTI-REPLAY MECHANISM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58368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Arial"/>
              </a:defRPr>
            </a:pPr>
            <a:r>
              <a:t>Cryptographic Manifest Hash-Chaining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34440"/>
            <a:ext cx="10698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8899AA"/>
                </a:solidFill>
                <a:latin typeface="Calibri"/>
              </a:defRPr>
            </a:pPr>
            <a:r>
              <a:t>Preventing Forced Rollbacks and Stale Update Replays Without External State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00800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8899AA"/>
                </a:solidFill>
                <a:latin typeface="Calibri"/>
              </a:defRPr>
            </a:pPr>
            <a:r>
              <a:t>VLCDS: Version-Locked Chained Delta Signatures  |  B2_Grp_18  |  Cryptography Course Project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10728655" cy="4480560"/>
          </a:xfrm>
          <a:prstGeom prst="roundRect">
            <a:avLst/>
          </a:prstGeom>
          <a:solidFill>
            <a:srgbClr val="0C162A"/>
          </a:solidFill>
          <a:ln w="19050">
            <a:solidFill>
              <a:srgbClr val="00E6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hash_chain_179018570680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737360"/>
            <a:ext cx="10545775" cy="429768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1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D4FF"/>
                </a:solidFill>
                <a:latin typeface="Arial"/>
              </a:defRPr>
            </a:pPr>
            <a:r>
              <a:t>10. SECURITY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58368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Arial"/>
              </a:defRPr>
            </a:pPr>
            <a:r>
              <a:t>Attack Scenarios &amp; Defense Validation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34440"/>
            <a:ext cx="10698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8899AA"/>
                </a:solidFill>
                <a:latin typeface="Calibri"/>
              </a:defRPr>
            </a:pPr>
            <a:r>
              <a:t>Dolev-Yao Network Adversary: 100% Detection Rate Across All Simulated Attack Vectors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00800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8899AA"/>
                </a:solidFill>
                <a:latin typeface="Calibri"/>
              </a:defRPr>
            </a:pPr>
            <a:r>
              <a:t>VLCDS: Version-Locked Chained Delta Signatures  |  B2_Grp_18  |  Cryptography Course Project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10728655" cy="4480560"/>
          </a:xfrm>
          <a:prstGeom prst="roundRect">
            <a:avLst/>
          </a:prstGeom>
          <a:solidFill>
            <a:srgbClr val="0C162A"/>
          </a:solidFill>
          <a:ln w="19050">
            <a:solidFill>
              <a:srgbClr val="FF52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attack_defense_179018569239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737360"/>
            <a:ext cx="10545775" cy="429768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1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D4FF"/>
                </a:solidFill>
                <a:latin typeface="Arial"/>
              </a:defRPr>
            </a:pPr>
            <a:r>
              <a:t>11. IMPLEMENTATION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58368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Arial"/>
              </a:defRPr>
            </a:pPr>
            <a:r>
              <a:t>Dual Implementation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34440"/>
            <a:ext cx="10698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8899AA"/>
                </a:solidFill>
                <a:latin typeface="Calibri"/>
              </a:defRPr>
            </a:pPr>
            <a:r>
              <a:t>Reference Python Simulation + Native ESP32-S2 MicroPython Drivers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00800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8899AA"/>
                </a:solidFill>
                <a:latin typeface="Calibri"/>
              </a:defRPr>
            </a:pPr>
            <a:r>
              <a:t>VLCDS: Version-Locked Chained Delta Signatures  |  B2_Grp_18  |  Cryptography Course Project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37360"/>
            <a:ext cx="5257800" cy="4389120"/>
          </a:xfrm>
          <a:prstGeom prst="roundRect">
            <a:avLst/>
          </a:prstGeom>
          <a:solidFill>
            <a:srgbClr val="132238"/>
          </a:solidFill>
          <a:ln w="1905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48920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0D4FF"/>
                </a:solidFill>
                <a:latin typeface="Arial"/>
              </a:defRPr>
            </a:pPr>
            <a:r>
              <a:t>PC SIMULATION (Python 3.12)</a:t>
            </a:r>
          </a:p>
          <a:p>
            <a:pPr>
              <a:spcBef>
                <a:spcPts val="300"/>
              </a:spcBef>
              <a:defRPr sz="1150">
                <a:solidFill>
                  <a:srgbClr val="CBD5E1"/>
                </a:solidFill>
                <a:latin typeface="Calibri"/>
              </a:defRPr>
            </a:pPr>
            <a:r>
              <a:t>• vlcds/crypto_utils.py: Ed25519 (PyNaCl) + SHA-256 (hashlib) cryptographic primitives.</a:t>
            </a:r>
          </a:p>
          <a:p>
            <a:pPr>
              <a:spcBef>
                <a:spcPts val="300"/>
              </a:spcBef>
              <a:defRPr sz="1150">
                <a:solidFill>
                  <a:srgbClr val="CBD5E1"/>
                </a:solidFill>
                <a:latin typeface="Calibri"/>
              </a:defRPr>
            </a:pPr>
            <a:r>
              <a:t>• vlcds/manifest.py: 200-byte binary serializer, deserializer, and verification engine.</a:t>
            </a:r>
          </a:p>
          <a:p>
            <a:pPr>
              <a:spcBef>
                <a:spcPts val="300"/>
              </a:spcBef>
              <a:defRPr sz="1150">
                <a:solidFill>
                  <a:srgbClr val="CBD5E1"/>
                </a:solidFill>
                <a:latin typeface="Calibri"/>
              </a:defRPr>
            </a:pPr>
            <a:r>
              <a:t>• vlcds/delta_engine.py: Binary XOR differential patching engine for IoT firmware.</a:t>
            </a:r>
          </a:p>
          <a:p>
            <a:pPr>
              <a:spcBef>
                <a:spcPts val="300"/>
              </a:spcBef>
              <a:defRPr sz="1150">
                <a:solidFill>
                  <a:srgbClr val="CBD5E1"/>
                </a:solidFill>
                <a:latin typeface="Calibri"/>
              </a:defRPr>
            </a:pPr>
            <a:r>
              <a:t>• vlcds/device.py: Simulated IoT node with dual flash partitions and 3-stage pipeline.</a:t>
            </a:r>
          </a:p>
          <a:p>
            <a:pPr>
              <a:spcBef>
                <a:spcPts val="300"/>
              </a:spcBef>
              <a:defRPr sz="1150">
                <a:solidFill>
                  <a:srgbClr val="CBD5E1"/>
                </a:solidFill>
                <a:latin typeface="Calibri"/>
              </a:defRPr>
            </a:pPr>
            <a:r>
              <a:t>• vlcds/server.py: OTA vendor update server managing repository and delta generation.</a:t>
            </a:r>
          </a:p>
          <a:p>
            <a:pPr>
              <a:spcBef>
                <a:spcPts val="300"/>
              </a:spcBef>
              <a:defRPr sz="1150">
                <a:solidFill>
                  <a:srgbClr val="CBD5E1"/>
                </a:solidFill>
                <a:latin typeface="Calibri"/>
              </a:defRPr>
            </a:pPr>
            <a:r>
              <a:t>• vlcds/chain.py: Manifest hash-chain validator enforcing forward-only update order.</a:t>
            </a:r>
          </a:p>
          <a:p>
            <a:pPr>
              <a:spcBef>
                <a:spcPts val="300"/>
              </a:spcBef>
              <a:defRPr sz="1150">
                <a:solidFill>
                  <a:srgbClr val="CBD5E1"/>
                </a:solidFill>
                <a:latin typeface="Calibri"/>
              </a:defRPr>
            </a:pPr>
            <a:r>
              <a:t>• server_http.py: Flask HTTP REST server serving real-world OTA requests to ESP32.</a:t>
            </a:r>
          </a:p>
          <a:p>
            <a:pPr>
              <a:spcBef>
                <a:spcPts val="300"/>
              </a:spcBef>
              <a:defRPr sz="1150">
                <a:solidFill>
                  <a:srgbClr val="CBD5E1"/>
                </a:solidFill>
                <a:latin typeface="Calibri"/>
              </a:defRPr>
            </a:pPr>
            <a:r>
              <a:t>• webapp.py: Interactive browser dashboard demonstrating live attack simulations.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72200" y="1737360"/>
            <a:ext cx="5257800" cy="4389120"/>
          </a:xfrm>
          <a:prstGeom prst="roundRect">
            <a:avLst/>
          </a:prstGeom>
          <a:solidFill>
            <a:srgbClr val="132238"/>
          </a:solidFill>
          <a:ln w="19050">
            <a:solidFill>
              <a:srgbClr val="00E6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55080" y="1874519"/>
            <a:ext cx="48920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0E676"/>
                </a:solidFill>
                <a:latin typeface="Arial"/>
              </a:defRPr>
            </a:pPr>
            <a:r>
              <a:t>HARDWARE PLATFORM (ESP32-S2)</a:t>
            </a:r>
          </a:p>
          <a:p>
            <a:pPr>
              <a:spcBef>
                <a:spcPts val="300"/>
              </a:spcBef>
              <a:defRPr sz="1150">
                <a:solidFill>
                  <a:srgbClr val="CBD5E1"/>
                </a:solidFill>
                <a:latin typeface="Calibri"/>
              </a:defRPr>
            </a:pPr>
            <a:r>
              <a:t>• ESP32-S2 DevKit M1: Xtensa LX7 32CPU @ 240 MHz, 320 KB SRAM, 4 MB SPI Flash.</a:t>
            </a:r>
          </a:p>
          <a:p>
            <a:pPr>
              <a:spcBef>
                <a:spcPts val="300"/>
              </a:spcBef>
              <a:defRPr sz="1150">
                <a:solidFill>
                  <a:srgbClr val="CBD5E1"/>
                </a:solidFill>
                <a:latin typeface="Calibri"/>
              </a:defRPr>
            </a:pPr>
            <a:r>
              <a:t>• MicroPython v1.23.0: Bare-metal runtime executing lightweight cryptographic client.</a:t>
            </a:r>
          </a:p>
          <a:p>
            <a:pPr>
              <a:spcBef>
                <a:spcPts val="300"/>
              </a:spcBef>
              <a:defRPr sz="1150">
                <a:solidFill>
                  <a:srgbClr val="CBD5E1"/>
                </a:solidFill>
                <a:latin typeface="Calibri"/>
              </a:defRPr>
            </a:pPr>
            <a:r>
              <a:t>• esp32/ed25519_mp.py: Pure-Python Ed25519 digital signature implementation.</a:t>
            </a:r>
          </a:p>
          <a:p>
            <a:pPr>
              <a:spcBef>
                <a:spcPts val="300"/>
              </a:spcBef>
              <a:defRPr sz="1150">
                <a:solidFill>
                  <a:srgbClr val="CBD5E1"/>
                </a:solidFill>
                <a:latin typeface="Calibri"/>
              </a:defRPr>
            </a:pPr>
            <a:r>
              <a:t>• esp32/sha512_mp.py: Pure-Python SHA-512 engine providing hash core for Ed25519.</a:t>
            </a:r>
          </a:p>
          <a:p>
            <a:pPr>
              <a:spcBef>
                <a:spcPts val="300"/>
              </a:spcBef>
              <a:defRPr sz="1150">
                <a:solidFill>
                  <a:srgbClr val="CBD5E1"/>
                </a:solidFill>
                <a:latin typeface="Calibri"/>
              </a:defRPr>
            </a:pPr>
            <a:r>
              <a:t>• esp32/vlcds_device.py: Embedded VLCDS client implementing the full 3-stage verifier.</a:t>
            </a:r>
          </a:p>
          <a:p>
            <a:pPr>
              <a:spcBef>
                <a:spcPts val="300"/>
              </a:spcBef>
              <a:defRPr sz="1150">
                <a:solidFill>
                  <a:srgbClr val="CBD5E1"/>
                </a:solidFill>
                <a:latin typeface="Calibri"/>
              </a:defRPr>
            </a:pPr>
            <a:r>
              <a:t>• WiFi OTA Client: Fetches signed manifest, runs pre-verify, then downloads delta.</a:t>
            </a:r>
          </a:p>
          <a:p>
            <a:pPr>
              <a:spcBef>
                <a:spcPts val="300"/>
              </a:spcBef>
              <a:defRPr sz="1150">
                <a:solidFill>
                  <a:srgbClr val="CBD5E1"/>
                </a:solidFill>
                <a:latin typeface="Calibri"/>
              </a:defRPr>
            </a:pPr>
            <a:r>
              <a:t>• Partition Management: Dual slot emulation (Active vs Shadow slot) with integrity rollback.</a:t>
            </a:r>
          </a:p>
          <a:p>
            <a:pPr>
              <a:spcBef>
                <a:spcPts val="300"/>
              </a:spcBef>
              <a:defRPr sz="1150">
                <a:solidFill>
                  <a:srgbClr val="CBD5E1"/>
                </a:solidFill>
                <a:latin typeface="Calibri"/>
              </a:defRPr>
            </a:pPr>
            <a:r>
              <a:t>• Hardware Independence: Zero dependency on proprietary C-blobs; 100% auditable Python.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1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D4FF"/>
                </a:solidFill>
                <a:latin typeface="Arial"/>
              </a:defRPr>
            </a:pPr>
            <a:r>
              <a:t>12. BANDWIDTH OPTIMIZATION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58368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Arial"/>
              </a:defRPr>
            </a:pPr>
            <a:r>
              <a:t>Delta Compression &amp; Transmission Efficiency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34440"/>
            <a:ext cx="10698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8899AA"/>
                </a:solidFill>
                <a:latin typeface="Calibri"/>
              </a:defRPr>
            </a:pPr>
            <a:r>
              <a:t>Quantifying Bandwidth Reductions and Flash Wear Savings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00800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8899AA"/>
                </a:solidFill>
                <a:latin typeface="Calibri"/>
              </a:defRPr>
            </a:pPr>
            <a:r>
              <a:t>VLCDS: Version-Locked Chained Delta Signatures  |  B2_Grp_18  |  Cryptography Course Project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37360"/>
            <a:ext cx="3474720" cy="1645920"/>
          </a:xfrm>
          <a:prstGeom prst="roundRect">
            <a:avLst/>
          </a:prstGeom>
          <a:solidFill>
            <a:srgbClr val="132238"/>
          </a:solidFill>
          <a:ln w="19050">
            <a:solidFill>
              <a:srgbClr val="8899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28800"/>
            <a:ext cx="31089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8899AA"/>
                </a:solidFill>
                <a:latin typeface="Arial"/>
              </a:defRPr>
            </a:pPr>
            <a:r>
              <a:t>FULL FIRMWARE IMAGE</a:t>
            </a:r>
          </a:p>
          <a:p>
            <a:pPr>
              <a:spcBef>
                <a:spcPts val="200"/>
              </a:spcBef>
              <a:defRPr sz="2800" b="1">
                <a:solidFill>
                  <a:srgbClr val="FFFFFF"/>
                </a:solidFill>
                <a:latin typeface="Arial"/>
              </a:defRPr>
            </a:pPr>
            <a:r>
              <a:t>2,393 Bytes</a:t>
            </a:r>
          </a:p>
          <a:p>
            <a:pPr>
              <a:spcBef>
                <a:spcPts val="400"/>
              </a:spcBef>
              <a:defRPr sz="1100">
                <a:solidFill>
                  <a:srgbClr val="CBD5E1"/>
                </a:solidFill>
                <a:latin typeface="Calibri"/>
              </a:defRPr>
            </a:pPr>
            <a:r>
              <a:t>Monolithic binary transmission size required by conventional OTA.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61688" y="1737360"/>
            <a:ext cx="3474720" cy="1645920"/>
          </a:xfrm>
          <a:prstGeom prst="roundRect">
            <a:avLst/>
          </a:prstGeom>
          <a:solidFill>
            <a:srgbClr val="132238"/>
          </a:solidFill>
          <a:ln w="1905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44568" y="1828800"/>
            <a:ext cx="31089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0D4FF"/>
                </a:solidFill>
                <a:latin typeface="Arial"/>
              </a:defRPr>
            </a:pPr>
            <a:r>
              <a:t>VLCDS DELTA PATCH</a:t>
            </a:r>
          </a:p>
          <a:p>
            <a:pPr>
              <a:spcBef>
                <a:spcPts val="200"/>
              </a:spcBef>
              <a:defRPr sz="2800" b="1">
                <a:solidFill>
                  <a:srgbClr val="FFFFFF"/>
                </a:solidFill>
                <a:latin typeface="Arial"/>
              </a:defRPr>
            </a:pPr>
            <a:r>
              <a:t>1,636 Bytes</a:t>
            </a:r>
          </a:p>
          <a:p>
            <a:pPr>
              <a:spcBef>
                <a:spcPts val="400"/>
              </a:spcBef>
              <a:defRPr sz="1100">
                <a:solidFill>
                  <a:srgbClr val="CBD5E1"/>
                </a:solidFill>
                <a:latin typeface="Calibri"/>
              </a:defRPr>
            </a:pPr>
            <a:r>
              <a:t>Differential XOR patch containing only modified firmware bytes.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991856" y="1737360"/>
            <a:ext cx="3474720" cy="1645920"/>
          </a:xfrm>
          <a:prstGeom prst="roundRect">
            <a:avLst/>
          </a:prstGeom>
          <a:solidFill>
            <a:srgbClr val="132238"/>
          </a:solidFill>
          <a:ln w="19050">
            <a:solidFill>
              <a:srgbClr val="00E6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174736" y="1828800"/>
            <a:ext cx="31089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0E676"/>
                </a:solidFill>
                <a:latin typeface="Arial"/>
              </a:defRPr>
            </a:pPr>
            <a:r>
              <a:t>BANDWIDTH REDUCTION</a:t>
            </a:r>
          </a:p>
          <a:p>
            <a:pPr>
              <a:spcBef>
                <a:spcPts val="200"/>
              </a:spcBef>
              <a:defRPr sz="2800" b="1">
                <a:solidFill>
                  <a:srgbClr val="FFFFFF"/>
                </a:solidFill>
                <a:latin typeface="Arial"/>
              </a:defRPr>
            </a:pPr>
            <a:r>
              <a:t>31.6% SAVED</a:t>
            </a:r>
          </a:p>
          <a:p>
            <a:pPr>
              <a:spcBef>
                <a:spcPts val="400"/>
              </a:spcBef>
              <a:defRPr sz="1100">
                <a:solidFill>
                  <a:srgbClr val="CBD5E1"/>
                </a:solidFill>
                <a:latin typeface="Calibri"/>
              </a:defRPr>
            </a:pPr>
            <a:r>
              <a:t>757 bytes cut per transmission; scales exponentially on larger MB images.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566160"/>
            <a:ext cx="10698480" cy="2560320"/>
          </a:xfrm>
          <a:prstGeom prst="roundRect">
            <a:avLst/>
          </a:prstGeom>
          <a:solidFill>
            <a:srgbClr val="132238"/>
          </a:solidFill>
          <a:ln w="19050">
            <a:solidFill>
              <a:srgbClr val="FFD7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3703320"/>
            <a:ext cx="10332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FD740"/>
                </a:solidFill>
                <a:latin typeface="Arial"/>
              </a:defRPr>
            </a:pPr>
            <a:r>
              <a:t>BANDWIDTH &amp; ENERGY IMPLICATIONS UNDER ATTACK</a:t>
            </a:r>
          </a:p>
          <a:p>
            <a:pPr>
              <a:spcBef>
                <a:spcPts val="500"/>
              </a:spcBef>
              <a:defRPr sz="1200">
                <a:solidFill>
                  <a:srgbClr val="CBD5E1"/>
                </a:solidFill>
                <a:latin typeface="Calibri"/>
              </a:defRPr>
            </a:pPr>
            <a:r>
              <a:t>• Conventional OTA Baseline: Device downloads entire 2,393-byte image before checking signature -&gt; Under attack: 2,393 bytes wasted, high radio energy burned, flash cycles consumed.</a:t>
            </a:r>
          </a:p>
          <a:p>
            <a:pPr>
              <a:spcBef>
                <a:spcPts val="500"/>
              </a:spcBef>
              <a:defRPr sz="1200">
                <a:solidFill>
                  <a:srgbClr val="CBD5E1"/>
                </a:solidFill>
                <a:latin typeface="Calibri"/>
              </a:defRPr>
            </a:pPr>
            <a:r>
              <a:t>• Naive Delta OTA: Device downloads full 1,636-byte delta patch, applies it, fails at post-verify -&gt; Under attack: 1,636 bytes wasted, shadow flash partition written and worn out.</a:t>
            </a:r>
          </a:p>
          <a:p>
            <a:pPr>
              <a:spcBef>
                <a:spcPts val="500"/>
              </a:spcBef>
              <a:defRPr sz="1200">
                <a:solidFill>
                  <a:srgbClr val="CBD5E1"/>
                </a:solidFill>
                <a:latin typeface="Calibri"/>
              </a:defRPr>
            </a:pPr>
            <a:r>
              <a:t>• VLCDS Protocol (Our Solution): Device exchanges ONLY the 200-byte manifest in Stage 1 -&gt; Under attack: Aborts immediately, saving 1,636 bytes (100% of patch) and 0 flash writes!</a:t>
            </a:r>
          </a:p>
          <a:p>
            <a:pPr>
              <a:spcBef>
                <a:spcPts val="500"/>
              </a:spcBef>
              <a:defRPr sz="1200">
                <a:solidFill>
                  <a:srgbClr val="CBD5E1"/>
                </a:solidFill>
                <a:latin typeface="Calibri"/>
              </a:defRPr>
            </a:pPr>
            <a:r>
              <a:t>• Net Payload Overhead: Adding the 200-byte manifest to a valid 1,636-byte delta yields 1,836 bytes total -&gt; Still 23.3% smaller than transferring the raw 2,393-byte firmware image!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1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D4FF"/>
                </a:solidFill>
                <a:latin typeface="Arial"/>
              </a:defRPr>
            </a:pPr>
            <a:r>
              <a:t>13. PERFORMANCE BENCHMARKS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58368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Arial"/>
              </a:defRPr>
            </a:pPr>
            <a:r>
              <a:t>Cryptographic Execution Profiling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34440"/>
            <a:ext cx="10698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8899AA"/>
                </a:solidFill>
                <a:latin typeface="Calibri"/>
              </a:defRPr>
            </a:pPr>
            <a:r>
              <a:t>100-Iteration Microbenchmarks: Mean, Min, Max Timings (PC Python 3.12 Reference)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00800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8899AA"/>
                </a:solidFill>
                <a:latin typeface="Calibri"/>
              </a:defRPr>
            </a:pPr>
            <a:r>
              <a:t>VLCDS: Version-Locked Chained Delta Signatures  |  B2_Grp_18  |  Cryptography Course Project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37360"/>
            <a:ext cx="6217920" cy="4389120"/>
          </a:xfrm>
          <a:prstGeom prst="roundRect">
            <a:avLst/>
          </a:prstGeom>
          <a:solidFill>
            <a:srgbClr val="132238"/>
          </a:solidFill>
          <a:ln w="1905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28800"/>
            <a:ext cx="58521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0D4FF"/>
                </a:solidFill>
                <a:latin typeface="Arial"/>
              </a:defRPr>
            </a:pPr>
            <a:r>
              <a:t>MICROBENCHMARK TIMINGS (100 ITERATIONS)</a:t>
            </a:r>
          </a:p>
          <a:p>
            <a:pPr>
              <a:spcBef>
                <a:spcPts val="400"/>
              </a:spcBef>
              <a:defRPr sz="1100">
                <a:solidFill>
                  <a:srgbClr val="CBD5E1"/>
                </a:solidFill>
                <a:latin typeface="Consolas"/>
              </a:defRPr>
            </a:pPr>
            <a:r>
              <a:t>Ed25519 Sign (Manifest)      | Mean: 0.1192 ms (Min: 0.0991 ms, Max: 0.1944 ms)</a:t>
            </a:r>
          </a:p>
          <a:p>
            <a:pPr>
              <a:spcBef>
                <a:spcPts val="400"/>
              </a:spcBef>
              <a:defRPr sz="1100">
                <a:solidFill>
                  <a:srgbClr val="CBD5E1"/>
                </a:solidFill>
                <a:latin typeface="Consolas"/>
              </a:defRPr>
            </a:pPr>
            <a:r>
              <a:t>Ed25519 Verify (Manifest)    | Mean: 0.3814 ms (Min: 0.2792 ms, Max: 0.4444 ms)</a:t>
            </a:r>
          </a:p>
          <a:p>
            <a:pPr>
              <a:spcBef>
                <a:spcPts val="400"/>
              </a:spcBef>
              <a:defRPr sz="1100">
                <a:solidFill>
                  <a:srgbClr val="CBD5E1"/>
                </a:solidFill>
                <a:latin typeface="Consolas"/>
              </a:defRPr>
            </a:pPr>
            <a:r>
              <a:t>SHA-256 (1 KB payload)       | Mean: 0.0061 ms (Min: 0.0055 ms, Max: 0.0297 ms)</a:t>
            </a:r>
          </a:p>
          <a:p>
            <a:pPr>
              <a:spcBef>
                <a:spcPts val="400"/>
              </a:spcBef>
              <a:defRPr sz="1100">
                <a:solidFill>
                  <a:srgbClr val="CBD5E1"/>
                </a:solidFill>
                <a:latin typeface="Consolas"/>
              </a:defRPr>
            </a:pPr>
            <a:r>
              <a:t>SHA-256 (10 KB payload)      | Mean: 0.0201 ms (Min: 0.0196 ms, Max: 0.0399 ms)</a:t>
            </a:r>
          </a:p>
          <a:p>
            <a:pPr>
              <a:spcBef>
                <a:spcPts val="400"/>
              </a:spcBef>
              <a:defRPr sz="1100">
                <a:solidFill>
                  <a:srgbClr val="CBD5E1"/>
                </a:solidFill>
                <a:latin typeface="Consolas"/>
              </a:defRPr>
            </a:pPr>
            <a:r>
              <a:t>SHA-256 (100 KB payload)     | Mean: 0.1539 ms (Min: 0.1508 ms, Max: 0.2900 ms)</a:t>
            </a:r>
          </a:p>
          <a:p>
            <a:pPr>
              <a:spcBef>
                <a:spcPts val="400"/>
              </a:spcBef>
              <a:defRPr sz="1100">
                <a:solidFill>
                  <a:srgbClr val="CBD5E1"/>
                </a:solidFill>
                <a:latin typeface="Consolas"/>
              </a:defRPr>
            </a:pPr>
            <a:r>
              <a:t>SHA-256 (1,024 KB payload)   | Mean: 1.5403 ms (Min: 1.5173 ms, Max: 1.7496 ms)</a:t>
            </a:r>
          </a:p>
          <a:p>
            <a:pPr>
              <a:spcBef>
                <a:spcPts val="800"/>
              </a:spcBef>
              <a:defRPr sz="1100">
                <a:solidFill>
                  <a:srgbClr val="8899AA"/>
                </a:solidFill>
                <a:latin typeface="Calibri"/>
              </a:defRPr>
            </a:pPr>
            <a:r>
              <a:t>--&gt; Digital signature verification dominates execution time; SHA-256 hashing cost is virtually negligible (&lt;0.02 ms for IoT delta patches).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32320" y="1737360"/>
            <a:ext cx="4297680" cy="4389120"/>
          </a:xfrm>
          <a:prstGeom prst="roundRect">
            <a:avLst/>
          </a:prstGeom>
          <a:solidFill>
            <a:srgbClr val="132238"/>
          </a:solidFill>
          <a:ln w="19050">
            <a:solidFill>
              <a:srgbClr val="FFD7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0" y="1828800"/>
            <a:ext cx="39319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FD740"/>
                </a:solidFill>
                <a:latin typeface="Arial"/>
              </a:defRPr>
            </a:pPr>
            <a:r>
              <a:t>VLCDS VS BASELINE OVERHEAD</a:t>
            </a:r>
          </a:p>
          <a:p>
            <a:pPr>
              <a:spcBef>
                <a:spcPts val="800"/>
              </a:spcBef>
              <a:defRPr sz="1200">
                <a:solidFill>
                  <a:srgbClr val="FFFFFF"/>
                </a:solidFill>
                <a:latin typeface="Consolas"/>
              </a:defRPr>
            </a:pPr>
            <a:r>
              <a:t>Single-Signature Baseline:</a:t>
            </a:r>
            <a:br/>
            <a:r>
              <a:t>1 Hash + 1 Sign + 1 Verify</a:t>
            </a:r>
            <a:br/>
            <a:r>
              <a:t>= 0.5066 ms</a:t>
            </a:r>
          </a:p>
          <a:p>
            <a:pPr>
              <a:spcBef>
                <a:spcPts val="1000"/>
              </a:spcBef>
              <a:defRPr sz="1200">
                <a:solidFill>
                  <a:srgbClr val="00E676"/>
                </a:solidFill>
                <a:latin typeface="Consolas"/>
              </a:defRPr>
            </a:pPr>
            <a:r>
              <a:t>VLCDS Proposed Protocol:</a:t>
            </a:r>
            <a:br/>
            <a:r>
              <a:t>5 Hashes + 1 Sign + 1 Verify</a:t>
            </a:r>
            <a:br/>
            <a:r>
              <a:t>= 0.5308 ms</a:t>
            </a:r>
          </a:p>
          <a:p>
            <a:pPr>
              <a:spcBef>
                <a:spcPts val="1000"/>
              </a:spcBef>
              <a:defRPr sz="1800" b="1">
                <a:solidFill>
                  <a:srgbClr val="00D4FF"/>
                </a:solidFill>
                <a:latin typeface="Arial"/>
              </a:defRPr>
            </a:pPr>
            <a:r>
              <a:t>NET OVERHEAD:</a:t>
            </a:r>
            <a:br/>
            <a:r>
              <a:t>+0.0242 ms (+4.8%)</a:t>
            </a:r>
            <a:br/>
          </a:p>
          <a:p>
            <a:pPr>
              <a:spcBef>
                <a:spcPts val="400"/>
              </a:spcBef>
              <a:defRPr sz="1150">
                <a:solidFill>
                  <a:srgbClr val="CBD5E1"/>
                </a:solidFill>
                <a:latin typeface="Calibri"/>
              </a:defRPr>
            </a:pPr>
            <a:r>
              <a:t>VLCDS provides Content + State + History authentication for less than 5% computational overhead compared to insecure single-signature schemes!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1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D4FF"/>
                </a:solidFill>
                <a:latin typeface="Arial"/>
              </a:defRPr>
            </a:pPr>
            <a:r>
              <a:t>14. HARDWARE VALIDATION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58368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Arial"/>
              </a:defRPr>
            </a:pPr>
            <a:r>
              <a:t>ESP32-S2 DevKit M1 Real Hardware 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34440"/>
            <a:ext cx="10698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8899AA"/>
                </a:solidFill>
                <a:latin typeface="Calibri"/>
              </a:defRPr>
            </a:pPr>
            <a:r>
              <a:t>Measured On-Chip Execution Performance of Native MicroPython Firmware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00800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8899AA"/>
                </a:solidFill>
                <a:latin typeface="Calibri"/>
              </a:defRPr>
            </a:pPr>
            <a:r>
              <a:t>VLCDS: Version-Locked Chained Delta Signatures  |  B2_Grp_18  |  Cryptography Course Project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37360"/>
            <a:ext cx="5257800" cy="4389120"/>
          </a:xfrm>
          <a:prstGeom prst="roundRect">
            <a:avLst/>
          </a:prstGeom>
          <a:solidFill>
            <a:srgbClr val="132238"/>
          </a:solidFill>
          <a:ln w="19050">
            <a:solidFill>
              <a:srgbClr val="00E6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48920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0E676"/>
                </a:solidFill>
                <a:latin typeface="Arial"/>
              </a:defRPr>
            </a:pPr>
            <a:r>
              <a:t>MEASURED ESP32-S2 ON-CHIP TIMINGS</a:t>
            </a:r>
          </a:p>
          <a:p>
            <a:pPr>
              <a:spcBef>
                <a:spcPts val="400"/>
              </a:spcBef>
              <a:defRPr sz="1150">
                <a:solidFill>
                  <a:srgbClr val="CBD5E1"/>
                </a:solidFill>
                <a:latin typeface="Calibri"/>
              </a:defRPr>
            </a:pPr>
            <a:r>
              <a:t>• Ed25519 Signature Verify : ~237 ms (Pure-Python math on 240 MHz Xtensa LX7)</a:t>
            </a:r>
          </a:p>
          <a:p>
            <a:pPr>
              <a:spcBef>
                <a:spcPts val="400"/>
              </a:spcBef>
              <a:defRPr sz="1150">
                <a:solidFill>
                  <a:srgbClr val="CBD5E1"/>
                </a:solidFill>
                <a:latin typeface="Calibri"/>
              </a:defRPr>
            </a:pPr>
            <a:r>
              <a:t>• SHA-256 Firmware Hash    : ~12 ms (Native hashlib engine on ESP32-S2)</a:t>
            </a:r>
          </a:p>
          <a:p>
            <a:pPr>
              <a:spcBef>
                <a:spcPts val="400"/>
              </a:spcBef>
              <a:defRPr sz="1150">
                <a:solidFill>
                  <a:srgbClr val="CBD5E1"/>
                </a:solidFill>
                <a:latin typeface="Calibri"/>
              </a:defRPr>
            </a:pPr>
            <a:r>
              <a:t>• Stage 1 (Pre-Verification): ~253 ms (All 4 cryptographic &amp; state checks)</a:t>
            </a:r>
          </a:p>
          <a:p>
            <a:pPr>
              <a:spcBef>
                <a:spcPts val="400"/>
              </a:spcBef>
              <a:defRPr sz="1150">
                <a:solidFill>
                  <a:srgbClr val="CBD5E1"/>
                </a:solidFill>
                <a:latin typeface="Calibri"/>
              </a:defRPr>
            </a:pPr>
            <a:r>
              <a:t>• Stage 2 (Apply XOR Delta): ~15 ms (In-memory / flash shadow reconstruction)</a:t>
            </a:r>
          </a:p>
          <a:p>
            <a:pPr>
              <a:spcBef>
                <a:spcPts val="400"/>
              </a:spcBef>
              <a:defRPr sz="1150">
                <a:solidFill>
                  <a:srgbClr val="CBD5E1"/>
                </a:solidFill>
                <a:latin typeface="Calibri"/>
              </a:defRPr>
            </a:pPr>
            <a:r>
              <a:t>• Stage 3 (Post-Verification): ~12 ms (Hash equality check (Zero-signature!))</a:t>
            </a:r>
          </a:p>
          <a:p>
            <a:pPr>
              <a:spcBef>
                <a:spcPts val="400"/>
              </a:spcBef>
              <a:defRPr sz="1150">
                <a:solidFill>
                  <a:srgbClr val="CBD5E1"/>
                </a:solidFill>
                <a:latin typeface="Calibri"/>
              </a:defRPr>
            </a:pPr>
            <a:r>
              <a:t>• Total Update Duration    : ~280 ms (Complete 3-stage validation cycle)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72200" y="1737360"/>
            <a:ext cx="5257800" cy="4389120"/>
          </a:xfrm>
          <a:prstGeom prst="roundRect">
            <a:avLst/>
          </a:prstGeom>
          <a:solidFill>
            <a:srgbClr val="132238"/>
          </a:solidFill>
          <a:ln w="1905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55080" y="1874519"/>
            <a:ext cx="48920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0D4FF"/>
                </a:solidFill>
                <a:latin typeface="Arial"/>
              </a:defRPr>
            </a:pPr>
            <a:r>
              <a:t>LIVE HARDWARE TEST SEQUENCE</a:t>
            </a:r>
          </a:p>
          <a:p>
            <a:pPr>
              <a:spcBef>
                <a:spcPts val="500"/>
              </a:spcBef>
              <a:defRPr sz="1150">
                <a:solidFill>
                  <a:srgbClr val="CBD5E1"/>
                </a:solidFill>
                <a:latin typeface="Calibri"/>
              </a:defRPr>
            </a:pPr>
            <a:r>
              <a:t>1. WiFi Bootstrap: ESP32-S2 auto-connects to local AP and pings Flask OTA server.</a:t>
            </a:r>
          </a:p>
          <a:p>
            <a:pPr>
              <a:spcBef>
                <a:spcPts val="500"/>
              </a:spcBef>
              <a:defRPr sz="1150">
                <a:solidFill>
                  <a:srgbClr val="CBD5E1"/>
                </a:solidFill>
                <a:latin typeface="Calibri"/>
              </a:defRPr>
            </a:pPr>
            <a:r>
              <a:t>2. v1 -&gt; v2 Update: Fetches Manifest v1-&gt;v2 (200 B), pre-verifies in 253 ms, downloads delta (1,636 B), post-verifies, boots v2.</a:t>
            </a:r>
          </a:p>
          <a:p>
            <a:pPr>
              <a:spcBef>
                <a:spcPts val="500"/>
              </a:spcBef>
              <a:defRPr sz="1150">
                <a:solidFill>
                  <a:srgbClr val="CBD5E1"/>
                </a:solidFill>
                <a:latin typeface="Calibri"/>
              </a:defRPr>
            </a:pPr>
            <a:r>
              <a:t>3. v2 -&gt; v3 Update: Chained update succeeds; chain head shifts to H(M_{1-&gt;2}); firmware upgraded to v3.</a:t>
            </a:r>
          </a:p>
          <a:p>
            <a:pPr>
              <a:spcBef>
                <a:spcPts val="500"/>
              </a:spcBef>
              <a:defRPr sz="1150">
                <a:solidFill>
                  <a:srgbClr val="CBD5E1"/>
                </a:solidFill>
                <a:latin typeface="Calibri"/>
              </a:defRPr>
            </a:pPr>
            <a:r>
              <a:t>4. Replay Attack Injected: Stale v1-&gt;v2 manifest transmitted to v3 device; Stage 1 Check 4 catches stale chain head -&gt; Instant abort!</a:t>
            </a:r>
          </a:p>
          <a:p>
            <a:pPr>
              <a:spcBef>
                <a:spcPts val="500"/>
              </a:spcBef>
              <a:defRPr sz="1150">
                <a:solidFill>
                  <a:srgbClr val="CBD5E1"/>
                </a:solidFill>
                <a:latin typeface="Calibri"/>
              </a:defRPr>
            </a:pPr>
            <a:r>
              <a:t>5. Bit-Flip Injection: Single-byte corruption in delta patch detected in Stage 2 -&gt; Shadow slot wiped, active v3 remains pristine.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1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D4FF"/>
                </a:solidFill>
                <a:latin typeface="Arial"/>
              </a:defRPr>
            </a:pPr>
            <a:r>
              <a:t>15. COMPARATIVE EVALUATION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58368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Arial"/>
              </a:defRPr>
            </a:pPr>
            <a:r>
              <a:t>VLCDS vs. Existing State of the Art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34440"/>
            <a:ext cx="10698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8899AA"/>
                </a:solidFill>
                <a:latin typeface="Calibri"/>
              </a:defRPr>
            </a:pPr>
            <a:r>
              <a:t>Systematic Feature and Security Comparison Across 8 Architectural Dimensions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00800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8899AA"/>
                </a:solidFill>
                <a:latin typeface="Calibri"/>
              </a:defRPr>
            </a:pPr>
            <a:r>
              <a:t>VLCDS: Version-Locked Chained Delta Signatures  |  B2_Grp_18  |  Cryptography Course Project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91640"/>
            <a:ext cx="10728655" cy="4480560"/>
          </a:xfrm>
          <a:prstGeom prst="roundRect">
            <a:avLst/>
          </a:prstGeom>
          <a:solidFill>
            <a:srgbClr val="132238"/>
          </a:solidFill>
          <a:ln w="1905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783080"/>
            <a:ext cx="10362895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D4FF"/>
                </a:solidFill>
                <a:latin typeface="Consolas"/>
              </a:defRPr>
            </a:pPr>
            <a:r>
              <a:t>Architectural Dimension    | Samsung Patent (US10206114)    | Base Paper (Formanek 2025)  | VLCDS (Our Work)</a:t>
            </a:r>
          </a:p>
          <a:p>
            <a:pPr>
              <a:spcBef>
                <a:spcPts val="400"/>
              </a:spcBef>
              <a:defRPr sz="1000">
                <a:solidFill>
                  <a:srgbClr val="FFFFFF"/>
                </a:solidFill>
                <a:latin typeface="Consolas"/>
              </a:defRPr>
            </a:pPr>
            <a:r>
              <a:t>Target Platform            | Smartphones / NFC SE           | ESP32 IoT Nodes             | Constrained IoT (ESP32-S2)</a:t>
            </a:r>
          </a:p>
          <a:p>
            <a:pPr>
              <a:spcBef>
                <a:spcPts val="400"/>
              </a:spcBef>
              <a:defRPr sz="1000">
                <a:solidFill>
                  <a:srgbClr val="FFFFFF"/>
                </a:solidFill>
                <a:latin typeface="Consolas"/>
              </a:defRPr>
            </a:pPr>
            <a:r>
              <a:t>Update Unit Verified       | Monolithic Full Image Only     | Delta Patch (Unsigned)      | Delta Patch (Cryptographically Bound)</a:t>
            </a:r>
          </a:p>
          <a:p>
            <a:pPr>
              <a:spcBef>
                <a:spcPts val="400"/>
              </a:spcBef>
              <a:defRPr sz="1000">
                <a:solidFill>
                  <a:srgbClr val="FFFFFF"/>
                </a:solidFill>
                <a:latin typeface="Consolas"/>
              </a:defRPr>
            </a:pPr>
            <a:r>
              <a:t>Version Binding            | None (External metadata)       | None (Plaintext JSON)       | Cryptographic (Signed inside Manifest)</a:t>
            </a:r>
          </a:p>
          <a:p>
            <a:pPr>
              <a:spcBef>
                <a:spcPts val="400"/>
              </a:spcBef>
              <a:defRPr sz="1000">
                <a:solidFill>
                  <a:srgbClr val="FFFFFF"/>
                </a:solidFill>
                <a:latin typeface="Consolas"/>
              </a:defRPr>
            </a:pPr>
            <a:r>
              <a:t>Anti-Replay Mechanism      | Not Addressed                  | System Bookkeeping          | Hash-Chain (H(prev_manifest))</a:t>
            </a:r>
          </a:p>
          <a:p>
            <a:pPr>
              <a:spcBef>
                <a:spcPts val="400"/>
              </a:spcBef>
              <a:defRPr sz="1000">
                <a:solidFill>
                  <a:srgbClr val="CBD5E1"/>
                </a:solidFill>
                <a:latin typeface="Consolas"/>
              </a:defRPr>
            </a:pPr>
            <a:r>
              <a:t>Network Channel Model      | Trusted On-Board Bus           | Untrusted Wireless Link     | Untrusted Dolev-Yao Wireless</a:t>
            </a:r>
          </a:p>
          <a:p>
            <a:pPr>
              <a:spcBef>
                <a:spcPts val="400"/>
              </a:spcBef>
              <a:defRPr sz="1000">
                <a:solidFill>
                  <a:srgbClr val="FFFFFF"/>
                </a:solidFill>
                <a:latin typeface="Consolas"/>
              </a:defRPr>
            </a:pPr>
            <a:r>
              <a:t>Pre-Verify for Deltas      | Not Supported                  | Not Supported               | Yes — 200-Byte Manifest Gatekeeper</a:t>
            </a:r>
          </a:p>
          <a:p>
            <a:pPr>
              <a:spcBef>
                <a:spcPts val="400"/>
              </a:spcBef>
              <a:defRPr sz="1000">
                <a:solidFill>
                  <a:srgbClr val="FFFFFF"/>
                </a:solidFill>
                <a:latin typeface="Consolas"/>
              </a:defRPr>
            </a:pPr>
            <a:r>
              <a:t>Post-Verify Signature      | Full 2nd Signature Check       | No Signature Check          | Zero-Signature Hash Equality Check</a:t>
            </a:r>
          </a:p>
          <a:p>
            <a:pPr>
              <a:spcBef>
                <a:spcPts val="400"/>
              </a:spcBef>
              <a:defRPr sz="1000">
                <a:solidFill>
                  <a:srgbClr val="FFFFFF"/>
                </a:solidFill>
                <a:latin typeface="Consolas"/>
              </a:defRPr>
            </a:pPr>
            <a:r>
              <a:t>Physical Hardware Demo     | Phone Hardware                 | ESP32 OTA Demonstration     | ESP32-S2 MicroPython Live OTA Demo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1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D4FF"/>
                </a:solidFill>
                <a:latin typeface="Arial"/>
              </a:defRPr>
            </a:pPr>
            <a:r>
              <a:t>16. EXPERIMENTAL VALIDATION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58368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Arial"/>
              </a:defRPr>
            </a:pPr>
            <a:r>
              <a:t>PyTest Test Suite &amp; Verification 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34440"/>
            <a:ext cx="10698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8899AA"/>
                </a:solidFill>
                <a:latin typeface="Calibri"/>
              </a:defRPr>
            </a:pPr>
            <a:r>
              <a:t>13 Passing Tests Across 3 Automated Suites: 100% Attack Neutralization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00800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8899AA"/>
                </a:solidFill>
                <a:latin typeface="Calibri"/>
              </a:defRPr>
            </a:pPr>
            <a:r>
              <a:t>VLCDS: Version-Locked Chained Delta Signatures  |  B2_Grp_18  |  Cryptography Course Project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37360"/>
            <a:ext cx="3474720" cy="4389120"/>
          </a:xfrm>
          <a:prstGeom prst="roundRect">
            <a:avLst/>
          </a:prstGeom>
          <a:solidFill>
            <a:srgbClr val="132238"/>
          </a:solidFill>
          <a:ln w="1905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28800"/>
            <a:ext cx="31089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0D4FF"/>
                </a:solidFill>
                <a:latin typeface="Arial"/>
              </a:defRPr>
            </a:pPr>
            <a:r>
              <a:t>test_normal_update.py</a:t>
            </a:r>
          </a:p>
          <a:p>
            <a:pPr>
              <a:spcBef>
                <a:spcPts val="200"/>
              </a:spcBef>
              <a:defRPr sz="1050">
                <a:solidFill>
                  <a:srgbClr val="8899AA"/>
                </a:solidFill>
                <a:latin typeface="Arial"/>
              </a:defRPr>
            </a:pPr>
            <a:r>
              <a:t>FUNCTIONAL TESTS (4/4 PASS)</a:t>
            </a:r>
          </a:p>
          <a:p>
            <a:pPr>
              <a:spcBef>
                <a:spcPts val="800"/>
              </a:spcBef>
              <a:defRPr sz="1100">
                <a:solidFill>
                  <a:srgbClr val="CBD5E1"/>
                </a:solidFill>
                <a:latin typeface="Calibri"/>
              </a:defRPr>
            </a:pPr>
            <a:r>
              <a:t>✓ test_v1_to_v2_update: Clean single update with partition swap.</a:t>
            </a:r>
            <a:br/>
            <a:r>
              <a:t>✓ test_v1_to_v2_to_v3_chain: Consecutive chained updates with hash tracking.</a:t>
            </a:r>
            <a:br/>
            <a:r>
              <a:t>✓ test_manifest_serialization: 200-byte wire binary roundtrip.</a:t>
            </a:r>
            <a:br/>
            <a:r>
              <a:t>✓ test_delta_roundtrip: Differential XOR patch generation and apply.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61688" y="1737360"/>
            <a:ext cx="3474720" cy="4389120"/>
          </a:xfrm>
          <a:prstGeom prst="roundRect">
            <a:avLst/>
          </a:prstGeom>
          <a:solidFill>
            <a:srgbClr val="132238"/>
          </a:solidFill>
          <a:ln w="19050">
            <a:solidFill>
              <a:srgbClr val="FF52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44568" y="1828800"/>
            <a:ext cx="31089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F5252"/>
                </a:solidFill>
                <a:latin typeface="Arial"/>
              </a:defRPr>
            </a:pPr>
            <a:r>
              <a:t>test_attack_scenarios.py</a:t>
            </a:r>
          </a:p>
          <a:p>
            <a:pPr>
              <a:spcBef>
                <a:spcPts val="200"/>
              </a:spcBef>
              <a:defRPr sz="1050">
                <a:solidFill>
                  <a:srgbClr val="8899AA"/>
                </a:solidFill>
                <a:latin typeface="Arial"/>
              </a:defRPr>
            </a:pPr>
            <a:r>
              <a:t>SECURITY TESTS (6/6 PASS)</a:t>
            </a:r>
          </a:p>
          <a:p>
            <a:pPr>
              <a:spcBef>
                <a:spcPts val="800"/>
              </a:spcBef>
              <a:defRPr sz="1100">
                <a:solidFill>
                  <a:srgbClr val="CBD5E1"/>
                </a:solidFill>
                <a:latin typeface="Calibri"/>
              </a:defRPr>
            </a:pPr>
            <a:r>
              <a:t>✓ test_version_mismatch: Injected v2-&gt;v3 patch to v1 node -&gt; Aborted in Stage 1 Check 2.</a:t>
            </a:r>
            <a:br/>
            <a:r>
              <a:t>✓ test_replay_attack: Replayed accepted v1-&gt;v2 manifest -&gt; Aborted in Stage 1 Check 4.</a:t>
            </a:r>
            <a:br/>
            <a:r>
              <a:t>✓ test_tampered_delta: Corrupted 1 bit in transit -&gt; Aborted in Stage 2 H(delta) check.</a:t>
            </a:r>
            <a:br/>
            <a:r>
              <a:t>✓ test_tampered_manifest: Forged signature -&gt; Aborted in Stage 1 Check 1.</a:t>
            </a:r>
            <a:br/>
            <a:r>
              <a:t>✓ test_zero_bytes_wasted: Confirmed 0 payload bytes downloaded on Stage 1 rejection.</a:t>
            </a:r>
            <a:br/>
            <a:r>
              <a:t>✓ test_zero_corruption: Confirmed active boot partition remains intact across all attacks.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991856" y="1737360"/>
            <a:ext cx="3474720" cy="4389120"/>
          </a:xfrm>
          <a:prstGeom prst="roundRect">
            <a:avLst/>
          </a:prstGeom>
          <a:solidFill>
            <a:srgbClr val="132238"/>
          </a:solidFill>
          <a:ln w="19050">
            <a:solidFill>
              <a:srgbClr val="00E6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174736" y="1828800"/>
            <a:ext cx="31089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0E676"/>
                </a:solidFill>
                <a:latin typeface="Arial"/>
              </a:defRPr>
            </a:pPr>
            <a:r>
              <a:t>test_performance.py</a:t>
            </a:r>
          </a:p>
          <a:p>
            <a:pPr>
              <a:spcBef>
                <a:spcPts val="200"/>
              </a:spcBef>
              <a:defRPr sz="1050">
                <a:solidFill>
                  <a:srgbClr val="8899AA"/>
                </a:solidFill>
                <a:latin typeface="Arial"/>
              </a:defRPr>
            </a:pPr>
            <a:r>
              <a:t>BENCHMARK TESTS (3/3 PASS)</a:t>
            </a:r>
          </a:p>
          <a:p>
            <a:pPr>
              <a:spcBef>
                <a:spcPts val="800"/>
              </a:spcBef>
              <a:defRPr sz="1100">
                <a:solidFill>
                  <a:srgbClr val="CBD5E1"/>
                </a:solidFill>
                <a:latin typeface="Calibri"/>
              </a:defRPr>
            </a:pPr>
            <a:r>
              <a:t>✓ test_ed25519_timings: Validated sign &amp; verify latency under 10 ms.</a:t>
            </a:r>
            <a:br/>
            <a:r>
              <a:t>✓ test_sha256_scaling: Validated linear hash scaling from 1 KB to 1 MB.</a:t>
            </a:r>
            <a:br/>
            <a:r>
              <a:t>✓ test_protocol_overhead: Verified VLCDS overhead remains under 5% (+0.024 ms).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1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D4FF"/>
                </a:solidFill>
                <a:latin typeface="Arial"/>
              </a:defRPr>
            </a:pPr>
            <a:r>
              <a:t>17. CONCLUSION &amp; FUTURE WORK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58368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Arial"/>
              </a:defRPr>
            </a:pPr>
            <a:r>
              <a:t>Summary of Contributions &amp; Research Horizons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34440"/>
            <a:ext cx="10698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8899AA"/>
                </a:solidFill>
                <a:latin typeface="Calibri"/>
              </a:defRPr>
            </a:pPr>
            <a:r>
              <a:t>Delivering Provably Secure, Zero-Waste Firmware Delivery for IoT Endpoints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00800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8899AA"/>
                </a:solidFill>
                <a:latin typeface="Calibri"/>
              </a:defRPr>
            </a:pPr>
            <a:r>
              <a:t>VLCDS: Version-Locked Chained Delta Signatures  |  B2_Grp_18  |  Cryptography Course Project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37360"/>
            <a:ext cx="5257800" cy="4389120"/>
          </a:xfrm>
          <a:prstGeom prst="roundRect">
            <a:avLst/>
          </a:prstGeom>
          <a:solidFill>
            <a:srgbClr val="132238"/>
          </a:solidFill>
          <a:ln w="19050">
            <a:solidFill>
              <a:srgbClr val="00E6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48920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0E676"/>
                </a:solidFill>
                <a:latin typeface="Arial"/>
              </a:defRPr>
            </a:pPr>
            <a:r>
              <a:t>SUMMARY OF ACHIEVEMENTS</a:t>
            </a:r>
          </a:p>
          <a:p>
            <a:pPr>
              <a:spcBef>
                <a:spcPts val="600"/>
              </a:spcBef>
              <a:defRPr sz="1200">
                <a:solidFill>
                  <a:srgbClr val="CBD5E1"/>
                </a:solidFill>
                <a:latin typeface="Calibri"/>
              </a:defRPr>
            </a:pPr>
            <a:r>
              <a:t>✓ First protocol to unify Content Binding, State Binding, and History Binding inside a single 200-byte pre-verification manifest.</a:t>
            </a:r>
          </a:p>
          <a:p>
            <a:pPr>
              <a:spcBef>
                <a:spcPts val="600"/>
              </a:spcBef>
              <a:defRPr sz="1200">
                <a:solidFill>
                  <a:srgbClr val="CBD5E1"/>
                </a:solidFill>
                <a:latin typeface="Calibri"/>
              </a:defRPr>
            </a:pPr>
            <a:r>
              <a:t>✓ Eliminates wasted bandwidth and flash write wear: Invalid or replayed updates aborted before transmitting payload bytes.</a:t>
            </a:r>
          </a:p>
          <a:p>
            <a:pPr>
              <a:spcBef>
                <a:spcPts val="600"/>
              </a:spcBef>
              <a:defRPr sz="1200">
                <a:solidFill>
                  <a:srgbClr val="CBD5E1"/>
                </a:solidFill>
                <a:latin typeface="Calibri"/>
              </a:defRPr>
            </a:pPr>
            <a:r>
              <a:t>✓ Avoids redundant post-verification signature checks by binding target hash into Stage 1, incurring only +4.8% net overhead.</a:t>
            </a:r>
          </a:p>
          <a:p>
            <a:pPr>
              <a:spcBef>
                <a:spcPts val="600"/>
              </a:spcBef>
              <a:defRPr sz="1200">
                <a:solidFill>
                  <a:srgbClr val="CBD5E1"/>
                </a:solidFill>
                <a:latin typeface="Calibri"/>
              </a:defRPr>
            </a:pPr>
            <a:r>
              <a:t>✓ Neutralizes 100% of Dolev-Yao network attack simulations with zero firmware corruption.</a:t>
            </a:r>
          </a:p>
          <a:p>
            <a:pPr>
              <a:spcBef>
                <a:spcPts val="600"/>
              </a:spcBef>
              <a:defRPr sz="1200">
                <a:solidFill>
                  <a:srgbClr val="CBD5E1"/>
                </a:solidFill>
                <a:latin typeface="Calibri"/>
              </a:defRPr>
            </a:pPr>
            <a:r>
              <a:t>✓ Successfully demonstrated on real ESP32-S2 DevKit M1 physical hardware using pure-Python MicroPython drivers.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72200" y="1737360"/>
            <a:ext cx="5257800" cy="4389120"/>
          </a:xfrm>
          <a:prstGeom prst="roundRect">
            <a:avLst/>
          </a:prstGeom>
          <a:solidFill>
            <a:srgbClr val="132238"/>
          </a:solidFill>
          <a:ln w="19050">
            <a:solidFill>
              <a:srgbClr val="FFD7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55080" y="1874519"/>
            <a:ext cx="48920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FD740"/>
                </a:solidFill>
                <a:latin typeface="Arial"/>
              </a:defRPr>
            </a:pPr>
            <a:r>
              <a:t>FUTURE RESEARCH HORIZONS</a:t>
            </a:r>
          </a:p>
          <a:p>
            <a:pPr>
              <a:spcBef>
                <a:spcPts val="500"/>
              </a:spcBef>
              <a:defRPr sz="1150">
                <a:solidFill>
                  <a:srgbClr val="CBD5E1"/>
                </a:solidFill>
                <a:latin typeface="Calibri"/>
              </a:defRPr>
            </a:pPr>
            <a:r>
              <a:t>• Production Delta Engines: Integrate streaming bsdiff or detools compression algorithms for multi-megabyte binary images.</a:t>
            </a:r>
          </a:p>
          <a:p>
            <a:pPr>
              <a:spcBef>
                <a:spcPts val="500"/>
              </a:spcBef>
              <a:defRPr sz="1150">
                <a:solidFill>
                  <a:srgbClr val="CBD5E1"/>
                </a:solidFill>
                <a:latin typeface="Calibri"/>
              </a:defRPr>
            </a:pPr>
            <a:r>
              <a:t>• Transport Confidentiality: Pair VLCDS with lightweight OSCORE or DTLS 1.3 to guarantee patch confidentiality against eavesdroppers.</a:t>
            </a:r>
          </a:p>
          <a:p>
            <a:pPr>
              <a:spcBef>
                <a:spcPts val="500"/>
              </a:spcBef>
              <a:defRPr sz="1150">
                <a:solidFill>
                  <a:srgbClr val="CBD5E1"/>
                </a:solidFill>
                <a:latin typeface="Calibri"/>
              </a:defRPr>
            </a:pPr>
            <a:r>
              <a:t>• Post-Quantum Cryptography: Evaluate NIST PQC standards (CRYSTALS-Dilithium, Falcon) for post-quantum IoT firmware authenticity.</a:t>
            </a:r>
          </a:p>
          <a:p>
            <a:pPr>
              <a:spcBef>
                <a:spcPts val="500"/>
              </a:spcBef>
              <a:defRPr sz="1150">
                <a:solidFill>
                  <a:srgbClr val="CBD5E1"/>
                </a:solidFill>
                <a:latin typeface="Calibri"/>
              </a:defRPr>
            </a:pPr>
            <a:r>
              <a:t>• Formal Protocol Verification: Conduct automated formal security proofs using ProVerif or Tamarin to mathematically verify replay freedom.</a:t>
            </a:r>
          </a:p>
          <a:p>
            <a:pPr>
              <a:spcBef>
                <a:spcPts val="500"/>
              </a:spcBef>
              <a:defRPr sz="1150">
                <a:solidFill>
                  <a:srgbClr val="CBD5E1"/>
                </a:solidFill>
                <a:latin typeface="Calibri"/>
              </a:defRPr>
            </a:pPr>
            <a:r>
              <a:t>• Fleet Group Key Management: Extend manifest signing to hierarchical group keys for heterogeneous industrial sensor networks.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1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D4FF"/>
                </a:solidFill>
                <a:latin typeface="Arial"/>
              </a:defRPr>
            </a:pPr>
            <a:r>
              <a:t>18. Q&amp;A DEFENSE GUIDE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58368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Arial"/>
              </a:defRPr>
            </a:pPr>
            <a:r>
              <a:t>Key Technical Questions &amp; Evaluator Reference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34440"/>
            <a:ext cx="10698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8899AA"/>
                </a:solidFill>
                <a:latin typeface="Calibri"/>
              </a:defRPr>
            </a:pPr>
            <a:r>
              <a:t>Anticipating Core Theoretical and Practical Defense Inquiries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00800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8899AA"/>
                </a:solidFill>
                <a:latin typeface="Calibri"/>
              </a:defRPr>
            </a:pPr>
            <a:r>
              <a:t>VLCDS: Version-Locked Chained Delta Signatures  |  B2_Grp_18  |  Cryptography Course Project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37360"/>
            <a:ext cx="10728655" cy="1371600"/>
          </a:xfrm>
          <a:prstGeom prst="roundRect">
            <a:avLst/>
          </a:prstGeom>
          <a:solidFill>
            <a:srgbClr val="132238"/>
          </a:solidFill>
          <a:ln w="1905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28800"/>
            <a:ext cx="10362895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0D4FF"/>
                </a:solidFill>
                <a:latin typeface="Arial"/>
              </a:defRPr>
            </a:pPr>
            <a:r>
              <a:t>Q1: Why choose Ed25519 over RSA or ECDSA for IoT updates?</a:t>
            </a:r>
          </a:p>
          <a:p>
            <a:pPr>
              <a:spcBef>
                <a:spcPts val="300"/>
              </a:spcBef>
              <a:defRPr sz="1150">
                <a:solidFill>
                  <a:srgbClr val="CBD5E1"/>
                </a:solidFill>
                <a:latin typeface="Calibri"/>
              </a:defRPr>
            </a:pPr>
            <a:r>
              <a:t>Ed25519 (RFC 8032) provides 128-bit security with small 64-byte signatures and 32-byte public keys. Unlike RSA (requires 2048-4096 bit keys, slow verification), Ed25519 executes in ~0.38 ms on PC and ~237 ms on ESP32 without requiring hardware acceleration. Unlike ECDSA, it is immune to faulty RNG side-channel attacks because it uses deterministic nonce generation.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246120"/>
            <a:ext cx="10728655" cy="1371600"/>
          </a:xfrm>
          <a:prstGeom prst="roundRect">
            <a:avLst/>
          </a:prstGeom>
          <a:solidFill>
            <a:srgbClr val="132238"/>
          </a:solidFill>
          <a:ln w="19050">
            <a:solidFill>
              <a:srgbClr val="FFD7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3337560"/>
            <a:ext cx="10362895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FD740"/>
                </a:solidFill>
                <a:latin typeface="Arial"/>
              </a:defRPr>
            </a:pPr>
            <a:r>
              <a:t>Q2: Why not just check the signature AFTER downloading the delta patch?</a:t>
            </a:r>
          </a:p>
          <a:p>
            <a:pPr>
              <a:spcBef>
                <a:spcPts val="300"/>
              </a:spcBef>
              <a:defRPr sz="1150">
                <a:solidFill>
                  <a:srgbClr val="CBD5E1"/>
                </a:solidFill>
                <a:latin typeface="Calibri"/>
              </a:defRPr>
            </a:pPr>
            <a:r>
              <a:t>Downloading delta patches over constrained links (LoRa/BLE) consumes immense energy. If an update has a version mismatch or is a replayed stale patch, the device wastes 100% of the transmission time, battery power, and flash cycles. VLCDS verifies the 200-byte manifest FIRST, filtering out 100% of malicious or mismatched patches before downloading a single patch byte.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4754879"/>
            <a:ext cx="10728655" cy="1371600"/>
          </a:xfrm>
          <a:prstGeom prst="roundRect">
            <a:avLst/>
          </a:prstGeom>
          <a:solidFill>
            <a:srgbClr val="132238"/>
          </a:solidFill>
          <a:ln w="19050">
            <a:solidFill>
              <a:srgbClr val="00E6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4846319"/>
            <a:ext cx="10362895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0E676"/>
                </a:solidFill>
                <a:latin typeface="Arial"/>
              </a:defRPr>
            </a:pPr>
            <a:r>
              <a:t>Q3: Why is there no second digital signature check in Stage 3?</a:t>
            </a:r>
          </a:p>
          <a:p>
            <a:pPr>
              <a:spcBef>
                <a:spcPts val="300"/>
              </a:spcBef>
              <a:defRPr sz="1150">
                <a:solidFill>
                  <a:srgbClr val="CBD5E1"/>
                </a:solidFill>
                <a:latin typeface="Calibri"/>
              </a:defRPr>
            </a:pPr>
            <a:r>
              <a:t>Digital signature verification is the most computationally expensive operation. Because H(target) is already bound inside the Stage-1 manifest signature, Stage 3 only needs to compute the SHA-256 hash of the reconstructed firmware and compare 32 bytes in RAM. This provides identical cryptographic security at 1/20th the CPU cost!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